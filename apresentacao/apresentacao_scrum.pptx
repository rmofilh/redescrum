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Bom dia. Este trabalho aplica as três redes do livro de Silva, Spatti e Flauzino — Perceptron, Adaline e Perceptron multicamadas — a um problema de gestão ágil: avisar o Scrum Master, ainda no meio da Sprint, que a equipe provavelmente não vai cumprir o que se comprometeu a entregar. Os dados são reais, de 33 projetos de código aberto do conjunto TAWOS.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Numa Sprint, a equipe se compromete com um conjunto de itens, medidos em story points. O burndown mostra quanto falta entregar a cada dia. A linha tracejada é o ritmo ideal, constante até zero. Neste exemplo real, a Sprint SDK Qin 4 do projeto MULE, na metade do tempo — dia 7,5 — o ideal seria faltar 50 pontos; faltavam 84, ou seja, só 16% estava pronto. A Sprint terminou com 74% concluído, abaixo da nossa meta de 80%: não cumpriu. As linhas verticais marcam 30%, 50% e 70% do tempo, os momentos em que vamos fazer a previsão. Os degraus aparecem porque um item só conta quando é fechado.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pergunta do trabalho: olhando só o que aconteceu até 30%, 50% ou 70% do tempo de uma Sprint, uma rede neural consegue prever se a equipe vai concluir pelo menos 80% do que comprometeu? O objetivo é comparar as três redes do livro entre si e com duas réguas simples: chutar sempre a classe mais comum, e a diagonal do burndown ideal, que é o que um Scrum Master faria olhando o gráfico. Importante: em cada momento k usamos só eventos até aquele instante — sem informação do futuro.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Usamos o TAWOS, um conjunto público de projetos ágeis de código aberto extraído do Jira. O TAWOS não diz quais itens estavam em cada Sprint no início; reconstruímos isso pelo histórico de mudanças do campo Sprint de cada item: quem estava na Sprint uma hora depois do início é o compromisso; o que entrou depois é escopo adicionado. O funil: das 4.594 Sprints, ficam as fechadas, com 5 a 31 dias e pelo menos 5 itens — 2.027. Para usar story points, exigimos que 70% dos itens tivessem pontos no início: 1.166 Sprints de 33 projetos, a base principal.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Cada exemplo é uma Sprint num momento k. São seis entradas: a fração do tempo decorrido, a fração dos story points comprometidos já concluída, os pontos adicionados depois do início, os itens em andamento, o tamanho do compromisso comparado à média entregue nas três Sprints anteriores, e a duração. As razões passam por log e todas são padronizadas com estatísticas do treino. A saída é bipolar, como no livro: +1 se a Sprint concluiu pelo menos 80% dos pontos comprometidos até a data de fim, −1 caso contrário. Só 10,9% das Sprints cumprem — classes muito desbalanceadas, por isso usamos pesos que equilibram as classes no treino.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medir como o modelo se sairia numa equipe nova, usamos validação cruzada agrupada por projeto, o GroupKFold com cinco dobras: em cada rodada, as Sprints de alguns projetos ficam de fora e o modelo é testado nelas sem nunca as ter visto. Comparamos as redes com duas réguas: B0, que chuta sempre 'não cumpriu', e B1, o burndown ideal — cumpre se o percentual concluído for pelo menos o percentual de tempo. Como só 11% cumprem, a acurácia simples engana: B0 acerta 89% sem detectar nada. Por isso usamos AUC, que mede se o modelo ordena bem as Sprints, acurácia balanceada e F1.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Primeiro experimento, no formato do livro: Perceptron com duas entradas, fração do tempo e fração concluída, mais o bias. Regra de Hebb com taxa de aprendizagem 1, pesos iniciais aleatórios entre −0,5 e 0,5, função degrau bipolar, no máximo 100 épocas, cinco sementes. O critério de parada do livro é uma época sem erros — nenhum treinamento chegou lá. O gráfico mostra o número de erros por época: oscila sem cair. As sementes 2 e 5 terminam com 3.117 erros, exatamente o número de exemplos 'não cumpriu': a reta final classifica tudo como 'cumpriu'. O teorema de convergência do Perceptron só vale para classes linearmente separáveis, e aqui as classes se sobrepõem. Os pesos finais são os da última época, por acaso — variam muito entre sementes.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Mesmas entradas, agora com o Adaline: regra Delta, que minimiza o erro quadrático médio da saída linear, antes do degrau. Implementado com o SGDClassifier do scikit-learn com perda quadrática, que é exatamente a regra Delta do capítulo 4. Taxa de aprendizagem 0,001, precisão 10 elevado a menos 6, até 500 épocas. As cinco sementes convergem entre 55 e 62 épocas, todas para o mesmo EQM, 0,3277, e praticamente os mesmos pesos. A diferença para o Perceptron: o EQM é uma superfície em forma de tigela, com um único mínimo, e o gradiente desce até ele mesmo com classes misturadas. O EQM é ponderado para as duas classes pesarem igual.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 é a figura principal. Cada ponto é uma Sprint num momento k: laranja cumpriu, cinza não. A diagonal tracejada é o burndown ideal, o B1. As retas verdes são o Adaline nas cinco sementes — quase sobrepostas; as azuis, o Perceptron, espalhadas. Na metade da Sprint, a diagonal exige 50% concluído; o Adaline corta em 31%. Por quê? A reta passa entre as duas nuvens: em k = 0,5, quem cumpriu tinha em média 47% concluído e quem não cumpriu, 16%. Com o corte em 31%, 75% das Sprints que cumpriram ficam acima; com 50%, só 40%. Testamos a hipótese de que as equipes deixam as entregas para o fim e ela não se confirmou: a curva média de quem cumpre é quase linear. Para o Scrum Master: abaixo de ~31% na metade da Sprint, o risco é alto; entre 31% e 50%, zona cinzenta.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Perceptron multicamadas usa as seis entradas, uma camada oculta logística e saída logística, treinado por retropropagação com momentum 0,9, taxa 0,01, regularização L2 de 0,01, até 2.000 épocas, com reamostragem da classe rara no treino. Testamos 5, 10 e 15 neurônios por validação cruzada por projeto: 10 teve a maior AUC, mas as três ficaram a menos de 0,01. A perda é a entropia cruzada, que o scikit-learn usa no lugar do EQM do livro. Ela cai rápido nas primeiras épocas e depois devagar; nenhum dos cinco treinamentos atingiu o critério de parada. O ponto principal é o sobreajuste: AUC de 0,90 no treino, mas 0,78 em projetos nunca vistos, em k = 0,5 — abaixo do Adaline, 0,85. A capacidade extra aprende particularidades dos projetos do treino.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Tabela no estilo do livro: amostras de teste, com entradas, a saída de cada rede e a saída desejada. Cada Sprint foi prevista por redes que não viram nenhuma Sprint do seu projeto. Todas estão em k = 0,5, então x₁ vale 0,5 para todas; mostramos x₂, a fração concluída, que é a entrada que mais pesa; as outras quatro estão no arquivo de predições. Em laranja, as saídas erradas. Nestas cinco: Perceptron acerta 4, Adaline 4, PMC 3. Atenção: sorteamos 5 Sprints que cumpriram e 5 que não, só para ilustrar. Na base real só 10,9% cumprem; as taxas de acerto oficiais estão nos próximos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Tabela no estilo do livro: amostras de teste, com entradas, a saída de cada rede e a saída desejada. Cada Sprint foi prevista por redes que não viram nenhuma Sprint do seu projeto. Todas estão em k = 0,5, então x₁ vale 0,5 para todas; mostramos x₂, a fração concluída, que é a entrada que mais pesa; as outras quatro estão no arquivo de predições. Em laranja, as saídas erradas. Nestas cinco: Perceptron acerta 4, Adaline 4, PMC 4. Atenção: sorteamos 5 Sprints que cumpriram e 5 que não, só para ilustrar. Na base real só 10,9% cumprem; as taxas de acerto oficiais estão nos próximos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Resultados fora da dobra, no cenário principal. Na AUC, à esquerda, Adaline e B1 empatam nos três momentos — 0,85 contra 0,85 em k = 0,5; o PMC fica abaixo e o Perceptron piora com k. Na acurácia balanceada, à direita, o Adaline é o melhor e a vantagem sobre o B1 cresce com k: 0,82 contra 0,68 em k = 0,7. O B0 tem AUC indefinida, porque dá a mesma resposta para todos, e acurácia balanceada 0,5. A taxa de acerto simples não aparece aqui de propósito: o B0 teria 89,1% sem reconhecer nenhuma Sprint que cumpre.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mesmo resultado em gráfico. Eixo x: o momento da previsão. Três painéis: AUC, acurácia balanceada e F1. Tracejadas, as réguas: B0 azul, B1 laranja. Contínuas, as redes: Perceptron verde, Adaline amarelo, PMC rosa. Mensagem principal: para B1, Adaline e PMC as curvas sobem com k — quanto mais tarde, mais fácil prever, o que é esperado. Em AUC, amarelo e laranja se sobrepõem. Em F1, Adaline e B1 também empatam, 0,46 e 0,46 em k = 0,5. O Perceptron cai porque sua reta final é arbitrária.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 metade da Sprint, das 127 Sprints que cumpriram, o Adaline reconhece 96; o B1, só 51. Em troca, das 1039 Sprints em risco, o Adaline deixa passar 196 sem alerta; o B1, 43. Para o Scrum Master, o erro mais grave é a Sprint em risco sem alerta, o contorno laranja: ele perde a chance de renegociar escopo ou remover impedimentos e só descobre na Review. Um alarme falso custa uma conversa no Daily. Por esse critério o B1 é mais seguro — mas alerta em 92% das Sprints, contra 75% do Adaline, e um alarme que toca quase sempre é ignorado. Como a AUC é igual, a troca vem do ponto de corte: subindo o corte do Adaline até 43 Sprints sem alerta, a matriz fica idêntica à do B1. É uma decisão de gestão.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Duas verificações. Primeiro, contar itens em vez de story points: a base sobe para 2.027 Sprints de 35 projetos e a conclusão se mantém — Adaline, B1 e PMC próximos, com o Adaline ligeiramente à frente. Segundo, tirar o DM, o maior projeto, que quase nunca cumpre (1% de positivos): Adaline e B1 continuam empatados. Os resultados não dependem da unidade nem de um projeto dominante.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Quatro limitações. Primeira: o Guia Scrum define o compromisso como o Sprint Goal, um objetivo em texto, que o TAWOS não tem; usamos a fração dos pontos comprometidos entregue como substituto. Segunda: ajustamos uma vez os hiperparâmetros e o critério de escolha da topologia do PMC depois de ver a primeira rodada; paramos ali para não otimizar no teste, mas o PMC teve essa vantagem. Terceira: o scikit-learn treina o PMC minimizando entropia cruzada, não o EQM do livro. Quarta: são projetos de código aberto, em que só 11% das Sprints cumprem e o compromisso é em média 2,3 vezes a velocidade — empresas podem ter outro comportamento.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Conclusões. Sim, dá para prever, e quanto mais tarde, melhor: a AUC do Adaline vai de 0,79 a 0,90. O Adaline é a melhor das três redes; empata com o burndown ideal em ordenar as Sprints e o supera em acurácia balanceada, porque aprende um corte adequado — 31% na metade da Sprint. O Perceptron não converge, como o livro prevê para classes não separáveis, e o PMC sobreajusta. Para a rede não linear ganhar, faltam variáveis com informação nova: comentários, mudanças de responsável, itens bloqueados, dependências. Também ficam como trabalhos futuros o Perceptron com bolso, a escolha do limiar no treino e implementar as redes do zero.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 referências: o livro-texto da disciplina, o Guia do Scrum e o livro de Jeff Sutherland para os conceitos de Sprint e compromisso, o artigo do conjunto de dados TAWOS e o scikit-learn, biblioteca usada nas três redes. O código, os dados processados e todos os números desta apresentação estão no repositório do projeto. Obrigado; fico à disposição para perguntas.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96012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4400" b="1" i="0">
                <a:solidFill>
                  <a:srgbClr val="FFFFFF"/>
                </a:solidFill>
                <a:latin typeface="Arial"/>
              </a:rPr>
              <a:t>Alerta de Sprint em risco</a:t>
            </a:r>
          </a:p>
          <a:p>
            <a:pPr algn="l">
              <a:spcAft>
                <a:spcPts val="1400"/>
              </a:spcAft>
            </a:pPr>
            <a:r>
              <a:rPr sz="2200" b="0" i="0">
                <a:solidFill>
                  <a:srgbClr val="CADCFC"/>
                </a:solidFill>
                <a:latin typeface="Arial"/>
              </a:rPr>
              <a:t>Perceptron, Adaline e PMC aplicados ao burndown de Sprints reais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846320"/>
            <a:ext cx="9144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Arial"/>
              </a:rPr>
              <a:t>Inteligência Artificial — Redes Neurais Artificiais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CADCFC"/>
                </a:solidFill>
                <a:latin typeface="Arial"/>
              </a:rPr>
              <a:t>Dados: TAWOS v1.1 · Referência: Silva, Spatti &amp; Flauzino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B2A41"/>
                </a:solidFill>
                <a:latin typeface="Arial"/>
              </a:rPr>
              <a:t>O Scrum Master e a Sprint em risco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5A5A5A"/>
                </a:solidFill>
                <a:latin typeface="Arial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3628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A5A5A"/>
                </a:solidFill>
                <a:latin typeface="Arial"/>
              </a:rPr>
              <a:t>Fonte: TAWOS, Sprint MULE 4351 reconstruída pelo histórico do Jira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3931920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600"/>
              </a:spcAft>
            </a:pPr>
            <a:r>
              <a:rPr sz="1800" b="0" i="0">
                <a:solidFill>
                  <a:srgbClr val="1F1F1F"/>
                </a:solidFill>
                <a:latin typeface="Arial"/>
              </a:rPr>
              <a:t>O burndown mostra quanto do compromisso ainda falta entregar.</a:t>
            </a:r>
          </a:p>
          <a:p>
            <a:pPr algn="l">
              <a:spcAft>
                <a:spcPts val="1600"/>
              </a:spcAft>
            </a:pPr>
            <a:r>
              <a:rPr sz="1800" b="1" i="0">
                <a:solidFill>
                  <a:srgbClr val="D95A24"/>
                </a:solidFill>
                <a:latin typeface="Arial"/>
              </a:rPr>
              <a:t>Na metade desta Sprint, só 16% estava pronto.</a:t>
            </a:r>
          </a:p>
          <a:p>
            <a:pPr algn="l">
              <a:spcAft>
                <a:spcPts val="1600"/>
              </a:spcAft>
            </a:pPr>
            <a:r>
              <a:rPr sz="1800" b="0" i="0">
                <a:solidFill>
                  <a:srgbClr val="1F1F1F"/>
                </a:solidFill>
                <a:latin typeface="Arial"/>
              </a:rPr>
              <a:t>Ela terminou com 74%: não cumpriu.</a:t>
            </a:r>
          </a:p>
          <a:p>
            <a:pPr algn="l">
              <a:spcAft>
                <a:spcPts val="1600"/>
              </a:spcAft>
            </a:pPr>
            <a:r>
              <a:rPr sz="2000" b="1" i="0">
                <a:solidFill>
                  <a:srgbClr val="1B2A41"/>
                </a:solidFill>
                <a:latin typeface="Arial"/>
              </a:rPr>
              <a:t>Dá para avisar antes?</a:t>
            </a:r>
          </a:p>
        </p:txBody>
      </p:sp>
      <p:pic>
        <p:nvPicPr>
          <p:cNvPr id="6" name="Picture 5" descr="MULE_435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417320"/>
            <a:ext cx="6766560" cy="37494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B2A41"/>
                </a:solidFill>
                <a:latin typeface="Arial"/>
              </a:rPr>
              <a:t>Questão central e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5A5A5A"/>
                </a:solidFill>
                <a:latin typeface="Arial"/>
              </a:rPr>
              <a:t>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11094415" cy="137160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63040"/>
            <a:ext cx="10454335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1B2A41"/>
                </a:solidFill>
                <a:latin typeface="Arial"/>
              </a:rPr>
              <a:t>Com 30%, 50% ou 70% do tempo decorrido, uma rede neural prevê se a equipe entregará ≥ 80% do compromisso?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280160" y="3977639"/>
            <a:ext cx="9631375" cy="0"/>
          </a:xfrm>
          <a:prstGeom prst="line">
            <a:avLst/>
          </a:prstGeom>
          <a:ln w="2540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3794759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A5A5A"/>
                </a:solidFill>
                <a:latin typeface="Arial"/>
              </a:rPr>
              <a:t>início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3794759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A5A5A"/>
                </a:solidFill>
                <a:latin typeface="Arial"/>
              </a:rPr>
              <a:t>fim</a:t>
            </a:r>
          </a:p>
        </p:txBody>
      </p:sp>
      <p:sp>
        <p:nvSpPr>
          <p:cNvPr id="9" name="Oval 8"/>
          <p:cNvSpPr/>
          <p:nvPr/>
        </p:nvSpPr>
        <p:spPr>
          <a:xfrm>
            <a:off x="3758092" y="3566159"/>
            <a:ext cx="822960" cy="82296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k = 0,3</a:t>
            </a:r>
          </a:p>
        </p:txBody>
      </p:sp>
      <p:sp>
        <p:nvSpPr>
          <p:cNvPr id="10" name="Oval 9"/>
          <p:cNvSpPr/>
          <p:nvPr/>
        </p:nvSpPr>
        <p:spPr>
          <a:xfrm>
            <a:off x="5684367" y="3566159"/>
            <a:ext cx="822960" cy="82296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k = 0,5</a:t>
            </a:r>
          </a:p>
        </p:txBody>
      </p:sp>
      <p:sp>
        <p:nvSpPr>
          <p:cNvPr id="11" name="Oval 10"/>
          <p:cNvSpPr/>
          <p:nvPr/>
        </p:nvSpPr>
        <p:spPr>
          <a:xfrm>
            <a:off x="7610642" y="3566159"/>
            <a:ext cx="822960" cy="82296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k = 0,7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937760"/>
            <a:ext cx="11094415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F1F1F"/>
                </a:solidFill>
                <a:latin typeface="Arial"/>
              </a:rPr>
              <a:t>Objetivo: </a:t>
            </a:r>
            <a:r>
              <a:rPr sz="1800" b="0" i="0">
                <a:solidFill>
                  <a:srgbClr val="1F1F1F"/>
                </a:solidFill>
                <a:latin typeface="Arial"/>
              </a:rPr>
              <a:t>comparar as três redes com o burndown ideal, sem usar o futuro.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B2A41"/>
                </a:solidFill>
                <a:latin typeface="Arial"/>
              </a:rPr>
              <a:t>Base de dados: TAWOS e o funil de Sprints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5A5A5A"/>
                </a:solidFill>
                <a:latin typeface="Arial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3628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A5A5A"/>
                </a:solidFill>
                <a:latin typeface="Arial"/>
              </a:rPr>
              <a:t>Fonte: data/processed/base_filtros.csv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3840480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600"/>
              </a:spcAft>
            </a:pPr>
            <a:r>
              <a:rPr sz="1800" b="1" i="0">
                <a:solidFill>
                  <a:srgbClr val="1F1F1F"/>
                </a:solidFill>
                <a:latin typeface="Arial"/>
              </a:rPr>
              <a:t>Compromisso reconstruído </a:t>
            </a:r>
            <a:r>
              <a:rPr sz="1800" b="0" i="0">
                <a:solidFill>
                  <a:srgbClr val="1F1F1F"/>
                </a:solidFill>
                <a:latin typeface="Arial"/>
              </a:rPr>
              <a:t>pelo histórico do campo Sprint no Jira.</a:t>
            </a:r>
          </a:p>
          <a:p>
            <a:pPr algn="l">
              <a:spcAft>
                <a:spcPts val="1600"/>
              </a:spcAft>
            </a:pPr>
            <a:r>
              <a:rPr sz="1800" b="1" i="0">
                <a:solidFill>
                  <a:srgbClr val="1F1F1F"/>
                </a:solidFill>
                <a:latin typeface="Arial"/>
              </a:rPr>
              <a:t>Base principal: </a:t>
            </a:r>
            <a:r>
              <a:rPr sz="1800" b="0" i="0">
                <a:solidFill>
                  <a:srgbClr val="1F1F1F"/>
                </a:solidFill>
                <a:latin typeface="Arial"/>
              </a:rPr>
              <a:t>1.166 Sprints, 33 projetos.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1508760"/>
            <a:ext cx="4114800" cy="566928"/>
          </a:xfrm>
          <a:prstGeom prst="roundRect">
            <a:avLst>
              <a:gd name="adj" fmla="val 8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09160" y="1508760"/>
            <a:ext cx="13716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B2A41"/>
                </a:solidFill>
                <a:latin typeface="Arial"/>
              </a:rPr>
              <a:t>4.594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23960" y="1508760"/>
            <a:ext cx="281909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A5A5A"/>
                </a:solidFill>
                <a:latin typeface="Arial"/>
              </a:rPr>
              <a:t>Sprints na tabela Sprint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2221991"/>
            <a:ext cx="4068224" cy="566928"/>
          </a:xfrm>
          <a:prstGeom prst="roundRect">
            <a:avLst>
              <a:gd name="adj" fmla="val 8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2221991"/>
            <a:ext cx="13716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B2A41"/>
                </a:solidFill>
                <a:latin typeface="Arial"/>
              </a:rPr>
              <a:t>4.542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7384" y="2221991"/>
            <a:ext cx="2865671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A5A5A"/>
                </a:solidFill>
                <a:latin typeface="Arial"/>
              </a:rPr>
              <a:t>datas válidas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2935224"/>
            <a:ext cx="4035979" cy="566928"/>
          </a:xfrm>
          <a:prstGeom prst="roundRect">
            <a:avLst>
              <a:gd name="adj" fmla="val 8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60" y="2935224"/>
            <a:ext cx="13716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B2A41"/>
                </a:solidFill>
                <a:latin typeface="Arial"/>
              </a:rPr>
              <a:t>4.506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45139" y="2935224"/>
            <a:ext cx="289791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A5A5A"/>
                </a:solidFill>
                <a:latin typeface="Arial"/>
              </a:rPr>
              <a:t>State = CLOSED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0" y="3648456"/>
            <a:ext cx="3872068" cy="566928"/>
          </a:xfrm>
          <a:prstGeom prst="roundRect">
            <a:avLst>
              <a:gd name="adj" fmla="val 8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9160" y="3648456"/>
            <a:ext cx="13716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B2A41"/>
                </a:solidFill>
                <a:latin typeface="Arial"/>
              </a:rPr>
              <a:t>4.323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81228" y="3648456"/>
            <a:ext cx="3061827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A5A5A"/>
                </a:solidFill>
                <a:latin typeface="Arial"/>
              </a:rPr>
              <a:t>duração 5–31 dias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4361688"/>
            <a:ext cx="1815563" cy="566928"/>
          </a:xfrm>
          <a:prstGeom prst="roundRect">
            <a:avLst>
              <a:gd name="adj" fmla="val 8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09160" y="4361688"/>
            <a:ext cx="13716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2.027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4723" y="4361688"/>
            <a:ext cx="5118331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A5A5A"/>
                </a:solidFill>
                <a:latin typeface="Arial"/>
              </a:rPr>
              <a:t>≥ 5 itens comprometidos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0" y="5074920"/>
            <a:ext cx="1188720" cy="566928"/>
          </a:xfrm>
          <a:prstGeom prst="roundRect">
            <a:avLst>
              <a:gd name="adj" fmla="val 8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09160" y="5074920"/>
            <a:ext cx="13716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1.166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97880" y="5074920"/>
            <a:ext cx="574517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A5A5A"/>
                </a:solidFill>
                <a:latin typeface="Arial"/>
              </a:rPr>
              <a:t>cobertura de SP ≥ 70%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B2A41"/>
                </a:solidFill>
                <a:latin typeface="Arial"/>
              </a:rPr>
              <a:t>Variáveis de entrada e saída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5A5A5A"/>
                </a:solidFill>
                <a:latin typeface="Arial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3628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A5A5A"/>
                </a:solidFill>
                <a:latin typeface="Arial"/>
              </a:rPr>
              <a:t>Todas as entradas usam só eventos até o momento 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6035040" cy="448056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5577840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 i="0">
                <a:solidFill>
                  <a:srgbClr val="1B2A41"/>
                </a:solidFill>
                <a:latin typeface="Arial"/>
              </a:rPr>
              <a:t>Entradas</a:t>
            </a:r>
          </a:p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F1F1F"/>
                </a:solidFill>
                <a:latin typeface="Arial"/>
              </a:rPr>
              <a:t>x₁  tempo decorrido (k)</a:t>
            </a:r>
          </a:p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F1F1F"/>
                </a:solidFill>
                <a:latin typeface="Arial"/>
              </a:rPr>
              <a:t>x₂  SP concluídos</a:t>
            </a:r>
          </a:p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F1F1F"/>
                </a:solidFill>
                <a:latin typeface="Arial"/>
              </a:rPr>
              <a:t>x₃  SP adicionados</a:t>
            </a:r>
          </a:p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F1F1F"/>
                </a:solidFill>
                <a:latin typeface="Arial"/>
              </a:rPr>
              <a:t>x₄  itens em andamento</a:t>
            </a:r>
          </a:p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F1F1F"/>
                </a:solidFill>
                <a:latin typeface="Arial"/>
              </a:rPr>
              <a:t>x₅  compromisso / velocidade</a:t>
            </a:r>
          </a:p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F1F1F"/>
                </a:solidFill>
                <a:latin typeface="Arial"/>
              </a:rPr>
              <a:t>x₆  duração (dias)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0" y="1463040"/>
            <a:ext cx="4690872" cy="2651760"/>
          </a:xfrm>
          <a:prstGeom prst="roundRect">
            <a:avLst>
              <a:gd name="adj" fmla="val 8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0" y="1645920"/>
            <a:ext cx="420624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Saída desejada d</a:t>
            </a:r>
          </a:p>
          <a:p>
            <a:pPr algn="l">
              <a:spcAft>
                <a:spcPts val="1400"/>
              </a:spcAft>
            </a:pPr>
            <a:r>
              <a:rPr sz="1800" b="0" i="0">
                <a:solidFill>
                  <a:srgbClr val="FFFFFF"/>
                </a:solidFill>
                <a:latin typeface="Arial"/>
              </a:rPr>
              <a:t>+1  cumpriu (≥ 80% dos SP)</a:t>
            </a:r>
          </a:p>
          <a:p>
            <a:pPr algn="l">
              <a:spcAft>
                <a:spcPts val="1400"/>
              </a:spcAft>
            </a:pPr>
            <a:r>
              <a:rPr sz="1800" b="0" i="0">
                <a:solidFill>
                  <a:srgbClr val="FFFFFF"/>
                </a:solidFill>
                <a:latin typeface="Arial"/>
              </a:rPr>
              <a:t>−1  não cumpriu</a:t>
            </a:r>
          </a:p>
          <a:p>
            <a:pPr algn="l">
              <a:spcAft>
                <a:spcPts val="1400"/>
              </a:spcAft>
            </a:pPr>
            <a:r>
              <a:rPr sz="2200" b="1" i="0">
                <a:solidFill>
                  <a:srgbClr val="CADCFC"/>
                </a:solidFill>
                <a:latin typeface="Arial"/>
              </a:rPr>
              <a:t>Só 10,9% cumprem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0" y="4343400"/>
            <a:ext cx="4690872" cy="160020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78040" y="4526280"/>
            <a:ext cx="4233672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B2A41"/>
                </a:solidFill>
                <a:latin typeface="Arial"/>
              </a:rPr>
              <a:t>Momentos k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F1F1F"/>
                </a:solidFill>
                <a:latin typeface="Arial"/>
              </a:rPr>
              <a:t>0,3 · 0,5 · 0,7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B2A41"/>
                </a:solidFill>
                <a:latin typeface="Arial"/>
              </a:rPr>
              <a:t>Metodologia: validação por projeto e réguas de comparação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5A5A5A"/>
                </a:solidFill>
                <a:latin typeface="Arial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B2A41"/>
                </a:solidFill>
                <a:latin typeface="Arial"/>
              </a:rPr>
              <a:t>GroupKFold: 5 dobras por projeto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65960"/>
            <a:ext cx="10058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A5A5A"/>
                </a:solidFill>
                <a:latin typeface="Arial"/>
              </a:rPr>
              <a:t>dobra 1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1965960"/>
            <a:ext cx="777240" cy="438912"/>
          </a:xfrm>
          <a:prstGeom prst="rect">
            <a:avLst/>
          </a:prstGeom>
          <a:solidFill>
            <a:srgbClr val="D95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468880" y="1965960"/>
            <a:ext cx="777240" cy="438912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337560" y="1965960"/>
            <a:ext cx="777240" cy="438912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06240" y="1965960"/>
            <a:ext cx="777240" cy="438912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74920" y="1965960"/>
            <a:ext cx="777240" cy="438912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532888"/>
            <a:ext cx="10058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A5A5A"/>
                </a:solidFill>
                <a:latin typeface="Arial"/>
              </a:rPr>
              <a:t>dobra 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2532888"/>
            <a:ext cx="777240" cy="438912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468880" y="2532888"/>
            <a:ext cx="777240" cy="438912"/>
          </a:xfrm>
          <a:prstGeom prst="rect">
            <a:avLst/>
          </a:prstGeom>
          <a:solidFill>
            <a:srgbClr val="D95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2532888"/>
            <a:ext cx="777240" cy="438912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06240" y="2532888"/>
            <a:ext cx="777240" cy="438912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74920" y="2532888"/>
            <a:ext cx="777240" cy="438912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099815"/>
            <a:ext cx="10058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A5A5A"/>
                </a:solidFill>
                <a:latin typeface="Arial"/>
              </a:rPr>
              <a:t>dobra 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3099815"/>
            <a:ext cx="777240" cy="438912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468880" y="3099815"/>
            <a:ext cx="777240" cy="438912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337560" y="3099815"/>
            <a:ext cx="777240" cy="438912"/>
          </a:xfrm>
          <a:prstGeom prst="rect">
            <a:avLst/>
          </a:prstGeom>
          <a:solidFill>
            <a:srgbClr val="D95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06240" y="3099815"/>
            <a:ext cx="777240" cy="438912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74920" y="3099815"/>
            <a:ext cx="777240" cy="438912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666744"/>
            <a:ext cx="10058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A5A5A"/>
                </a:solidFill>
                <a:latin typeface="Arial"/>
              </a:rPr>
              <a:t>dobra 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3666744"/>
            <a:ext cx="777240" cy="438912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468880" y="3666744"/>
            <a:ext cx="777240" cy="438912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337560" y="3666744"/>
            <a:ext cx="777240" cy="438912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06240" y="3666744"/>
            <a:ext cx="777240" cy="438912"/>
          </a:xfrm>
          <a:prstGeom prst="rect">
            <a:avLst/>
          </a:prstGeom>
          <a:solidFill>
            <a:srgbClr val="D95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74920" y="3666744"/>
            <a:ext cx="777240" cy="438912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4233672"/>
            <a:ext cx="10058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A5A5A"/>
                </a:solidFill>
                <a:latin typeface="Arial"/>
              </a:rPr>
              <a:t>dobra 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00200" y="4233672"/>
            <a:ext cx="777240" cy="438912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468880" y="4233672"/>
            <a:ext cx="777240" cy="438912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337560" y="4233672"/>
            <a:ext cx="777240" cy="438912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206240" y="4233672"/>
            <a:ext cx="777240" cy="438912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074920" y="4233672"/>
            <a:ext cx="777240" cy="438912"/>
          </a:xfrm>
          <a:prstGeom prst="rect">
            <a:avLst/>
          </a:prstGeom>
          <a:solidFill>
            <a:srgbClr val="D95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4892040"/>
            <a:ext cx="5486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D95A24"/>
                </a:solidFill>
                <a:latin typeface="Arial"/>
              </a:rPr>
              <a:t>■ </a:t>
            </a:r>
            <a:r>
              <a:rPr sz="1400" b="0" i="0">
                <a:solidFill>
                  <a:srgbClr val="1F1F1F"/>
                </a:solidFill>
                <a:latin typeface="Arial"/>
              </a:rPr>
              <a:t>teste: projetos nunca vistos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675120" y="1463040"/>
            <a:ext cx="4965192" cy="210312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03720" y="1645920"/>
            <a:ext cx="4507992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B2A41"/>
                </a:solidFill>
                <a:latin typeface="Arial"/>
              </a:rPr>
              <a:t>Réguas (baselines)</a:t>
            </a:r>
          </a:p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F1F1F"/>
                </a:solidFill>
                <a:latin typeface="Arial"/>
              </a:rPr>
              <a:t>B0: </a:t>
            </a:r>
            <a:r>
              <a:rPr sz="1600" b="0" i="0">
                <a:solidFill>
                  <a:srgbClr val="1F1F1F"/>
                </a:solidFill>
                <a:latin typeface="Arial"/>
              </a:rPr>
              <a:t>sempre "não cumpriu"</a:t>
            </a:r>
          </a:p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F1F1F"/>
                </a:solidFill>
                <a:latin typeface="Arial"/>
              </a:rPr>
              <a:t>B1: </a:t>
            </a:r>
            <a:r>
              <a:rPr sz="1600" b="0" i="0">
                <a:solidFill>
                  <a:srgbClr val="1F1F1F"/>
                </a:solidFill>
                <a:latin typeface="Arial"/>
              </a:rPr>
              <a:t>concluído ≥ tempo decorrido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675120" y="3794760"/>
            <a:ext cx="4965192" cy="210312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03720" y="3977640"/>
            <a:ext cx="4507992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B2A41"/>
                </a:solidFill>
                <a:latin typeface="Arial"/>
              </a:rPr>
              <a:t>Métricas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F1F1F"/>
                </a:solidFill>
                <a:latin typeface="Arial"/>
              </a:rPr>
              <a:t>AUC · acurácia balanceada · F1</a:t>
            </a:r>
          </a:p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D95A24"/>
                </a:solidFill>
                <a:latin typeface="Arial"/>
              </a:rPr>
              <a:t>Acurácia simples engana: B0 acerta 89%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B2A41"/>
                </a:solidFill>
                <a:latin typeface="Arial"/>
              </a:rPr>
              <a:t>Perceptron: 5 treinamentos, nenhum converge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5A5A5A"/>
                </a:solidFill>
                <a:latin typeface="Arial"/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3628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A5A5A"/>
                </a:solidFill>
                <a:latin typeface="Arial"/>
              </a:rPr>
              <a:t>Fonte: reports/resultados/exp1_perceptron_adaline_2entradas.csv (3.498 amostras = 1.166 Sprints × 3 k)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5760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A5A5A"/>
                </a:solidFill>
                <a:latin typeface="Arial"/>
              </a:rPr>
              <a:t>2 entradas + bias · degrau bipolar · η = 1 · máx. 100 épocas · pesos iniciais U(−0,5; 0,5)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103120"/>
          <a:ext cx="594360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960120"/>
                <a:gridCol w="1005840"/>
                <a:gridCol w="1188720"/>
                <a:gridCol w="777240"/>
                <a:gridCol w="109728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Semente</a:t>
                      </a:r>
                    </a:p>
                  </a:txBody>
                  <a:tcPr marL="73152" marR="73152" marT="27432" marB="27432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w₀ (bias)</a:t>
                      </a:r>
                    </a:p>
                  </a:txBody>
                  <a:tcPr marL="73152" marR="73152" marT="27432" marB="27432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w₁ (tempo)</a:t>
                      </a:r>
                    </a:p>
                  </a:txBody>
                  <a:tcPr marL="73152" marR="73152" marT="27432" marB="27432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w₂ (concluído)</a:t>
                      </a:r>
                    </a:p>
                  </a:txBody>
                  <a:tcPr marL="73152" marR="73152" marT="27432" marB="27432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Épocas</a:t>
                      </a:r>
                    </a:p>
                  </a:txBody>
                  <a:tcPr marL="73152" marR="73152" marT="27432" marB="27432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Erros finais</a:t>
                      </a:r>
                    </a:p>
                  </a:txBody>
                  <a:tcPr marL="73152" marR="73152" marT="27432" marB="27432" anchor="ctr">
                    <a:solidFill>
                      <a:srgbClr val="1B2A41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i="0">
                          <a:solidFill>
                            <a:srgbClr val="1F1F1F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i="0">
                          <a:solidFill>
                            <a:srgbClr val="1F1F1F"/>
                          </a:solidFill>
                          <a:latin typeface="Arial"/>
                        </a:rPr>
                        <a:t>2,18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i="0">
                          <a:solidFill>
                            <a:srgbClr val="1F1F1F"/>
                          </a:solidFill>
                          <a:latin typeface="Arial"/>
                        </a:rPr>
                        <a:t>-5,17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i="0">
                          <a:solidFill>
                            <a:srgbClr val="1F1F1F"/>
                          </a:solidFill>
                          <a:latin typeface="Arial"/>
                        </a:rPr>
                        <a:t>8,46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i="0">
                          <a:solidFill>
                            <a:srgbClr val="1F1F1F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i="0">
                          <a:solidFill>
                            <a:srgbClr val="1F1F1F"/>
                          </a:solidFill>
                          <a:latin typeface="Arial"/>
                        </a:rPr>
                        <a:t>2.359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i="0">
                          <a:solidFill>
                            <a:srgbClr val="1F1F1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i="0">
                          <a:solidFill>
                            <a:srgbClr val="1F1F1F"/>
                          </a:solidFill>
                          <a:latin typeface="Arial"/>
                        </a:rPr>
                        <a:t>3,51</a:t>
                      </a:r>
                    </a:p>
                  </a:txBody>
                  <a:tcPr marL="73152" marR="73152" marT="27432" marB="27432" anchor="ctr"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i="0">
                          <a:solidFill>
                            <a:srgbClr val="1F1F1F"/>
                          </a:solidFill>
                          <a:latin typeface="Arial"/>
                        </a:rPr>
                        <a:t>0,36</a:t>
                      </a:r>
                    </a:p>
                  </a:txBody>
                  <a:tcPr marL="73152" marR="73152" marT="27432" marB="27432" anchor="ctr"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i="0">
                          <a:solidFill>
                            <a:srgbClr val="1F1F1F"/>
                          </a:solidFill>
                          <a:latin typeface="Arial"/>
                        </a:rPr>
                        <a:t>7,67</a:t>
                      </a:r>
                    </a:p>
                  </a:txBody>
                  <a:tcPr marL="73152" marR="73152" marT="27432" marB="27432" anchor="ctr"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i="0">
                          <a:solidFill>
                            <a:srgbClr val="1F1F1F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73152" marR="73152" marT="27432" marB="27432" anchor="ctr"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i="0">
                          <a:solidFill>
                            <a:srgbClr val="1F1F1F"/>
                          </a:solidFill>
                          <a:latin typeface="Arial"/>
                        </a:rPr>
                        <a:t>3.117</a:t>
                      </a:r>
                    </a:p>
                  </a:txBody>
                  <a:tcPr marL="73152" marR="73152" marT="27432" marB="27432" anchor="ctr">
                    <a:solidFill>
                      <a:srgbClr val="F5F6F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i="0">
                          <a:solidFill>
                            <a:srgbClr val="1F1F1F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i="0">
                          <a:solidFill>
                            <a:srgbClr val="1F1F1F"/>
                          </a:solidFill>
                          <a:latin typeface="Arial"/>
                        </a:rPr>
                        <a:t>-2,39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i="0">
                          <a:solidFill>
                            <a:srgbClr val="1F1F1F"/>
                          </a:solidFill>
                          <a:latin typeface="Arial"/>
                        </a:rPr>
                        <a:t>-3,22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i="0">
                          <a:solidFill>
                            <a:srgbClr val="1F1F1F"/>
                          </a:solidFill>
                          <a:latin typeface="Arial"/>
                        </a:rPr>
                        <a:t>6,06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i="0">
                          <a:solidFill>
                            <a:srgbClr val="1F1F1F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i="0">
                          <a:solidFill>
                            <a:srgbClr val="1F1F1F"/>
                          </a:solidFill>
                          <a:latin typeface="Arial"/>
                        </a:rPr>
                        <a:t>317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i="0">
                          <a:solidFill>
                            <a:srgbClr val="1F1F1F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i="0">
                          <a:solidFill>
                            <a:srgbClr val="1F1F1F"/>
                          </a:solidFill>
                          <a:latin typeface="Arial"/>
                        </a:rPr>
                        <a:t>-1,10</a:t>
                      </a:r>
                    </a:p>
                  </a:txBody>
                  <a:tcPr marL="73152" marR="73152" marT="27432" marB="27432" anchor="ctr"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i="0">
                          <a:solidFill>
                            <a:srgbClr val="1F1F1F"/>
                          </a:solidFill>
                          <a:latin typeface="Arial"/>
                        </a:rPr>
                        <a:t>-4,36</a:t>
                      </a:r>
                    </a:p>
                  </a:txBody>
                  <a:tcPr marL="73152" marR="73152" marT="27432" marB="27432" anchor="ctr"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i="0">
                          <a:solidFill>
                            <a:srgbClr val="1F1F1F"/>
                          </a:solidFill>
                          <a:latin typeface="Arial"/>
                        </a:rPr>
                        <a:t>9,77</a:t>
                      </a:r>
                    </a:p>
                  </a:txBody>
                  <a:tcPr marL="73152" marR="73152" marT="27432" marB="27432" anchor="ctr"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i="0">
                          <a:solidFill>
                            <a:srgbClr val="1F1F1F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73152" marR="73152" marT="27432" marB="27432" anchor="ctr"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i="0">
                          <a:solidFill>
                            <a:srgbClr val="1F1F1F"/>
                          </a:solidFill>
                          <a:latin typeface="Arial"/>
                        </a:rPr>
                        <a:t>541</a:t>
                      </a:r>
                    </a:p>
                  </a:txBody>
                  <a:tcPr marL="73152" marR="73152" marT="27432" marB="27432" anchor="ctr">
                    <a:solidFill>
                      <a:srgbClr val="F5F6F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i="0">
                          <a:solidFill>
                            <a:srgbClr val="1F1F1F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i="0">
                          <a:solidFill>
                            <a:srgbClr val="1F1F1F"/>
                          </a:solidFill>
                          <a:latin typeface="Arial"/>
                        </a:rPr>
                        <a:t>2,52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i="0">
                          <a:solidFill>
                            <a:srgbClr val="1F1F1F"/>
                          </a:solidFill>
                          <a:latin typeface="Arial"/>
                        </a:rPr>
                        <a:t>-1,65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i="0">
                          <a:solidFill>
                            <a:srgbClr val="1F1F1F"/>
                          </a:solidFill>
                          <a:latin typeface="Arial"/>
                        </a:rPr>
                        <a:t>8,85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i="0">
                          <a:solidFill>
                            <a:srgbClr val="1F1F1F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i="0">
                          <a:solidFill>
                            <a:srgbClr val="1F1F1F"/>
                          </a:solidFill>
                          <a:latin typeface="Arial"/>
                        </a:rPr>
                        <a:t>3.117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754880"/>
            <a:ext cx="58521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D95A24"/>
                </a:solidFill>
                <a:latin typeface="Arial"/>
              </a:rPr>
              <a:t>Classes não separáveis: </a:t>
            </a:r>
            <a:r>
              <a:rPr sz="1600" b="0" i="0">
                <a:solidFill>
                  <a:srgbClr val="1F1F1F"/>
                </a:solidFill>
                <a:latin typeface="Arial"/>
              </a:rPr>
              <a:t>o erro oscila; sementes 2 e 5 dizem "cumpriu" para tudo.</a:t>
            </a:r>
          </a:p>
        </p:txBody>
      </p:sp>
      <p:pic>
        <p:nvPicPr>
          <p:cNvPr id="8" name="Picture 7" descr="exp1_curvas_treinamento.png"/>
          <p:cNvPicPr>
            <a:picLocks noChangeAspect="1"/>
          </p:cNvPicPr>
          <p:nvPr/>
        </p:nvPicPr>
        <p:blipFill>
          <a:blip r:embed="rId3"/>
          <a:srcRect r="52600" b="10000"/>
          <a:stretch>
            <a:fillRect/>
          </a:stretch>
        </p:blipFill>
        <p:spPr>
          <a:xfrm>
            <a:off x="6720840" y="1508760"/>
            <a:ext cx="4937760" cy="378275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720840" y="5382957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A5A5A"/>
                </a:solidFill>
                <a:latin typeface="Arial"/>
              </a:rPr>
              <a:t>Cores = sementes 1 a 5 (2 e 5 sobrepostas no topo)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B2A41"/>
                </a:solidFill>
                <a:latin typeface="Arial"/>
              </a:rPr>
              <a:t>Adaline: 5 treinamentos, todos na mesma reta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5A5A5A"/>
                </a:solidFill>
                <a:latin typeface="Arial"/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3628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A5A5A"/>
                </a:solidFill>
                <a:latin typeface="Arial"/>
              </a:rPr>
              <a:t>Fonte: reports/resultados/exp1_perceptron_adaline_2entradas.csv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5760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A5A5A"/>
                </a:solidFill>
                <a:latin typeface="Arial"/>
              </a:rPr>
              <a:t>Regra Delta · η = 0,001 · ε = 10⁻⁶ · máx. 500 épocas · EQM ponderado pelas classes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103120"/>
          <a:ext cx="594360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960120"/>
                <a:gridCol w="1005840"/>
                <a:gridCol w="1188720"/>
                <a:gridCol w="777240"/>
                <a:gridCol w="109728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Semente</a:t>
                      </a:r>
                    </a:p>
                  </a:txBody>
                  <a:tcPr marL="73152" marR="73152" marT="27432" marB="27432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w₀ (bias)</a:t>
                      </a:r>
                    </a:p>
                  </a:txBody>
                  <a:tcPr marL="73152" marR="73152" marT="27432" marB="27432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w₁ (tempo)</a:t>
                      </a:r>
                    </a:p>
                  </a:txBody>
                  <a:tcPr marL="73152" marR="73152" marT="27432" marB="27432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w₂ (concluído)</a:t>
                      </a:r>
                    </a:p>
                  </a:txBody>
                  <a:tcPr marL="73152" marR="73152" marT="27432" marB="27432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Épocas</a:t>
                      </a:r>
                    </a:p>
                  </a:txBody>
                  <a:tcPr marL="73152" marR="73152" marT="27432" marB="27432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EQM final</a:t>
                      </a:r>
                    </a:p>
                  </a:txBody>
                  <a:tcPr marL="73152" marR="73152" marT="27432" marB="27432" anchor="ctr">
                    <a:solidFill>
                      <a:srgbClr val="1B2A41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i="0">
                          <a:solidFill>
                            <a:srgbClr val="1F1F1F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i="0">
                          <a:solidFill>
                            <a:srgbClr val="1F1F1F"/>
                          </a:solidFill>
                          <a:latin typeface="Arial"/>
                        </a:rPr>
                        <a:t>-0,132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i="0">
                          <a:solidFill>
                            <a:srgbClr val="1F1F1F"/>
                          </a:solidFill>
                          <a:latin typeface="Arial"/>
                        </a:rPr>
                        <a:t>-1,158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i="0">
                          <a:solidFill>
                            <a:srgbClr val="1F1F1F"/>
                          </a:solidFill>
                          <a:latin typeface="Arial"/>
                        </a:rPr>
                        <a:t>2,239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i="0">
                          <a:solidFill>
                            <a:srgbClr val="1F1F1F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i="0">
                          <a:solidFill>
                            <a:srgbClr val="1F1F1F"/>
                          </a:solidFill>
                          <a:latin typeface="Arial"/>
                        </a:rPr>
                        <a:t>0,3277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i="0">
                          <a:solidFill>
                            <a:srgbClr val="1F1F1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i="0">
                          <a:solidFill>
                            <a:srgbClr val="1F1F1F"/>
                          </a:solidFill>
                          <a:latin typeface="Arial"/>
                        </a:rPr>
                        <a:t>-0,116</a:t>
                      </a:r>
                    </a:p>
                  </a:txBody>
                  <a:tcPr marL="73152" marR="73152" marT="27432" marB="27432" anchor="ctr"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i="0">
                          <a:solidFill>
                            <a:srgbClr val="1F1F1F"/>
                          </a:solidFill>
                          <a:latin typeface="Arial"/>
                        </a:rPr>
                        <a:t>-1,146</a:t>
                      </a:r>
                    </a:p>
                  </a:txBody>
                  <a:tcPr marL="73152" marR="73152" marT="27432" marB="27432" anchor="ctr"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i="0">
                          <a:solidFill>
                            <a:srgbClr val="1F1F1F"/>
                          </a:solidFill>
                          <a:latin typeface="Arial"/>
                        </a:rPr>
                        <a:t>2,238</a:t>
                      </a:r>
                    </a:p>
                  </a:txBody>
                  <a:tcPr marL="73152" marR="73152" marT="27432" marB="27432" anchor="ctr"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i="0">
                          <a:solidFill>
                            <a:srgbClr val="1F1F1F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73152" marR="73152" marT="27432" marB="27432" anchor="ctr"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i="0">
                          <a:solidFill>
                            <a:srgbClr val="1F1F1F"/>
                          </a:solidFill>
                          <a:latin typeface="Arial"/>
                        </a:rPr>
                        <a:t>0,3278</a:t>
                      </a:r>
                    </a:p>
                  </a:txBody>
                  <a:tcPr marL="73152" marR="73152" marT="27432" marB="27432" anchor="ctr">
                    <a:solidFill>
                      <a:srgbClr val="F5F6F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i="0">
                          <a:solidFill>
                            <a:srgbClr val="1F1F1F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i="0">
                          <a:solidFill>
                            <a:srgbClr val="1F1F1F"/>
                          </a:solidFill>
                          <a:latin typeface="Arial"/>
                        </a:rPr>
                        <a:t>-0,135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i="0">
                          <a:solidFill>
                            <a:srgbClr val="1F1F1F"/>
                          </a:solidFill>
                          <a:latin typeface="Arial"/>
                        </a:rPr>
                        <a:t>-1,157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i="0">
                          <a:solidFill>
                            <a:srgbClr val="1F1F1F"/>
                          </a:solidFill>
                          <a:latin typeface="Arial"/>
                        </a:rPr>
                        <a:t>2,241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i="0">
                          <a:solidFill>
                            <a:srgbClr val="1F1F1F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i="0">
                          <a:solidFill>
                            <a:srgbClr val="1F1F1F"/>
                          </a:solidFill>
                          <a:latin typeface="Arial"/>
                        </a:rPr>
                        <a:t>0,3277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i="0">
                          <a:solidFill>
                            <a:srgbClr val="1F1F1F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i="0">
                          <a:solidFill>
                            <a:srgbClr val="1F1F1F"/>
                          </a:solidFill>
                          <a:latin typeface="Arial"/>
                        </a:rPr>
                        <a:t>-0,119</a:t>
                      </a:r>
                    </a:p>
                  </a:txBody>
                  <a:tcPr marL="73152" marR="73152" marT="27432" marB="27432" anchor="ctr"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i="0">
                          <a:solidFill>
                            <a:srgbClr val="1F1F1F"/>
                          </a:solidFill>
                          <a:latin typeface="Arial"/>
                        </a:rPr>
                        <a:t>-1,156</a:t>
                      </a:r>
                    </a:p>
                  </a:txBody>
                  <a:tcPr marL="73152" marR="73152" marT="27432" marB="27432" anchor="ctr"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i="0">
                          <a:solidFill>
                            <a:srgbClr val="1F1F1F"/>
                          </a:solidFill>
                          <a:latin typeface="Arial"/>
                        </a:rPr>
                        <a:t>2,248</a:t>
                      </a:r>
                    </a:p>
                  </a:txBody>
                  <a:tcPr marL="73152" marR="73152" marT="27432" marB="27432" anchor="ctr"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i="0">
                          <a:solidFill>
                            <a:srgbClr val="1F1F1F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73152" marR="73152" marT="27432" marB="27432" anchor="ctr"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i="0">
                          <a:solidFill>
                            <a:srgbClr val="1F1F1F"/>
                          </a:solidFill>
                          <a:latin typeface="Arial"/>
                        </a:rPr>
                        <a:t>0,3277</a:t>
                      </a:r>
                    </a:p>
                  </a:txBody>
                  <a:tcPr marL="73152" marR="73152" marT="27432" marB="27432" anchor="ctr">
                    <a:solidFill>
                      <a:srgbClr val="F5F6F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i="0">
                          <a:solidFill>
                            <a:srgbClr val="1F1F1F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i="0">
                          <a:solidFill>
                            <a:srgbClr val="1F1F1F"/>
                          </a:solidFill>
                          <a:latin typeface="Arial"/>
                        </a:rPr>
                        <a:t>-0,126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i="0">
                          <a:solidFill>
                            <a:srgbClr val="1F1F1F"/>
                          </a:solidFill>
                          <a:latin typeface="Arial"/>
                        </a:rPr>
                        <a:t>-1,149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i="0">
                          <a:solidFill>
                            <a:srgbClr val="1F1F1F"/>
                          </a:solidFill>
                          <a:latin typeface="Arial"/>
                        </a:rPr>
                        <a:t>2,240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i="0">
                          <a:solidFill>
                            <a:srgbClr val="1F1F1F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i="0">
                          <a:solidFill>
                            <a:srgbClr val="1F1F1F"/>
                          </a:solidFill>
                          <a:latin typeface="Arial"/>
                        </a:rPr>
                        <a:t>0,3277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754880"/>
            <a:ext cx="58521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48F63"/>
                </a:solidFill>
                <a:latin typeface="Arial"/>
              </a:rPr>
              <a:t>Converge sempre: </a:t>
            </a:r>
            <a:r>
              <a:rPr sz="1600" b="0" i="0">
                <a:solidFill>
                  <a:srgbClr val="1F1F1F"/>
                </a:solidFill>
                <a:latin typeface="Arial"/>
              </a:rPr>
              <a:t>55–62 épocas, mesmo EQM e mesmos pesos.</a:t>
            </a:r>
          </a:p>
        </p:txBody>
      </p:sp>
      <p:pic>
        <p:nvPicPr>
          <p:cNvPr id="8" name="Picture 7" descr="exp1_curvas_treinamento.png"/>
          <p:cNvPicPr>
            <a:picLocks noChangeAspect="1"/>
          </p:cNvPicPr>
          <p:nvPr/>
        </p:nvPicPr>
        <p:blipFill>
          <a:blip r:embed="rId3"/>
          <a:srcRect l="48700" b="10000"/>
          <a:stretch>
            <a:fillRect/>
          </a:stretch>
        </p:blipFill>
        <p:spPr>
          <a:xfrm>
            <a:off x="6720840" y="1508760"/>
            <a:ext cx="4937760" cy="34951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720840" y="5095379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A5A5A"/>
                </a:solidFill>
                <a:latin typeface="Arial"/>
              </a:rPr>
              <a:t>Cores = sementes 1 a 5 (escala logarítmica)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B2A41"/>
                </a:solidFill>
                <a:latin typeface="Arial"/>
              </a:rPr>
              <a:t>Retas aprendidas × diagonal do burndown ideal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5A5A5A"/>
                </a:solidFill>
                <a:latin typeface="Arial"/>
              </a:rP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3628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A5A5A"/>
                </a:solidFill>
                <a:latin typeface="Arial"/>
              </a:rPr>
              <a:t>Fonte: exp2_fronteiras_2entradas.png; curva_media_concluido.csv; 3.498 amostras</a:t>
            </a:r>
          </a:p>
        </p:txBody>
      </p:sp>
      <p:pic>
        <p:nvPicPr>
          <p:cNvPr id="5" name="Picture 4" descr="exp2_fronteiras_2entrad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25880"/>
            <a:ext cx="7225119" cy="4983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21040" y="146304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A5A5A"/>
                </a:solidFill>
                <a:latin typeface="Arial"/>
              </a:rPr>
              <a:t>Na metade da Sprint (k = 0,5):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1920240"/>
            <a:ext cx="32918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 i="0">
                <a:solidFill>
                  <a:srgbClr val="148F63"/>
                </a:solidFill>
                <a:latin typeface="Arial"/>
              </a:rPr>
              <a:t>31%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288036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F1F1F"/>
                </a:solidFill>
                <a:latin typeface="Arial"/>
              </a:rPr>
              <a:t>corte do Adaline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3429000"/>
            <a:ext cx="32918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 i="0">
                <a:solidFill>
                  <a:srgbClr val="5A5A5A"/>
                </a:solidFill>
                <a:latin typeface="Arial"/>
              </a:rPr>
              <a:t>50%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438912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F1F1F"/>
                </a:solidFill>
                <a:latin typeface="Arial"/>
              </a:rPr>
              <a:t>diagonal do burndown ideal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4983480"/>
            <a:ext cx="3291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1F1F"/>
                </a:solidFill>
                <a:latin typeface="Arial"/>
              </a:rPr>
              <a:t>Acima de 31%: 75% das Sprints que cumprem. Acima de 50%: só 40%.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B2A41"/>
                </a:solidFill>
                <a:latin typeface="Arial"/>
              </a:rPr>
              <a:t>PMC: topologia, 5 treinamentos e sobreajuste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5A5A5A"/>
                </a:solidFill>
                <a:latin typeface="Arial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3628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A5A5A"/>
                </a:solidFill>
                <a:latin typeface="Arial"/>
              </a:rPr>
              <a:t>Fonte: exp3_pmc_topologias_cv.csv, exp3_pmc_treinamentos.csv, exp4_avaliacao.csv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5669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A5A5A"/>
                </a:solidFill>
                <a:latin typeface="Arial"/>
              </a:rPr>
              <a:t>1 camada oculta logística · η = 0,01 · momentum 0,9 · L2 = 0,01 · máx. 2.000 épocas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103120"/>
          <a:ext cx="228600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128016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Neurônios</a:t>
                      </a:r>
                    </a:p>
                  </a:txBody>
                  <a:tcPr marL="73152" marR="73152" marT="27432" marB="27432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AUC (validação)</a:t>
                      </a:r>
                    </a:p>
                  </a:txBody>
                  <a:tcPr marL="73152" marR="73152" marT="27432" marB="27432" anchor="ctr">
                    <a:solidFill>
                      <a:srgbClr val="1B2A41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i="0">
                          <a:solidFill>
                            <a:srgbClr val="1F1F1F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i="0">
                          <a:solidFill>
                            <a:srgbClr val="1F1F1F"/>
                          </a:solidFill>
                          <a:latin typeface="Arial"/>
                        </a:rPr>
                        <a:t>0,789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1F1F1F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73152" marR="73152" marT="27432" marB="27432" anchor="ctr"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1F1F1F"/>
                          </a:solidFill>
                          <a:latin typeface="Arial"/>
                        </a:rPr>
                        <a:t>0,798</a:t>
                      </a:r>
                    </a:p>
                  </a:txBody>
                  <a:tcPr marL="73152" marR="73152" marT="27432" marB="27432" anchor="ctr">
                    <a:solidFill>
                      <a:srgbClr val="F5F6F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i="0">
                          <a:solidFill>
                            <a:srgbClr val="1F1F1F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i="0">
                          <a:solidFill>
                            <a:srgbClr val="1F1F1F"/>
                          </a:solidFill>
                          <a:latin typeface="Arial"/>
                        </a:rPr>
                        <a:t>0,792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971800" y="2103120"/>
          <a:ext cx="352044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0120"/>
                <a:gridCol w="914400"/>
                <a:gridCol w="731520"/>
                <a:gridCol w="91440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Semente</a:t>
                      </a:r>
                    </a:p>
                  </a:txBody>
                  <a:tcPr marL="73152" marR="73152" marT="27432" marB="27432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Erro final</a:t>
                      </a:r>
                    </a:p>
                  </a:txBody>
                  <a:tcPr marL="73152" marR="73152" marT="27432" marB="27432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Épocas</a:t>
                      </a:r>
                    </a:p>
                  </a:txBody>
                  <a:tcPr marL="73152" marR="73152" marT="27432" marB="27432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AUC treino</a:t>
                      </a:r>
                    </a:p>
                  </a:txBody>
                  <a:tcPr marL="73152" marR="73152" marT="27432" marB="27432" anchor="ctr">
                    <a:solidFill>
                      <a:srgbClr val="1B2A41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i="0">
                          <a:solidFill>
                            <a:srgbClr val="1F1F1F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i="0">
                          <a:solidFill>
                            <a:srgbClr val="1F1F1F"/>
                          </a:solidFill>
                          <a:latin typeface="Arial"/>
                        </a:rPr>
                        <a:t>0,396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i="0">
                          <a:solidFill>
                            <a:srgbClr val="1F1F1F"/>
                          </a:solidFill>
                          <a:latin typeface="Arial"/>
                        </a:rPr>
                        <a:t>2.000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i="0">
                          <a:solidFill>
                            <a:srgbClr val="1F1F1F"/>
                          </a:solidFill>
                          <a:latin typeface="Arial"/>
                        </a:rPr>
                        <a:t>0,903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i="0">
                          <a:solidFill>
                            <a:srgbClr val="1F1F1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i="0">
                          <a:solidFill>
                            <a:srgbClr val="1F1F1F"/>
                          </a:solidFill>
                          <a:latin typeface="Arial"/>
                        </a:rPr>
                        <a:t>0,398</a:t>
                      </a:r>
                    </a:p>
                  </a:txBody>
                  <a:tcPr marL="73152" marR="73152" marT="27432" marB="27432" anchor="ctr"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i="0">
                          <a:solidFill>
                            <a:srgbClr val="1F1F1F"/>
                          </a:solidFill>
                          <a:latin typeface="Arial"/>
                        </a:rPr>
                        <a:t>2.000</a:t>
                      </a:r>
                    </a:p>
                  </a:txBody>
                  <a:tcPr marL="73152" marR="73152" marT="27432" marB="27432" anchor="ctr"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i="0">
                          <a:solidFill>
                            <a:srgbClr val="1F1F1F"/>
                          </a:solidFill>
                          <a:latin typeface="Arial"/>
                        </a:rPr>
                        <a:t>0,903</a:t>
                      </a:r>
                    </a:p>
                  </a:txBody>
                  <a:tcPr marL="73152" marR="73152" marT="27432" marB="27432" anchor="ctr">
                    <a:solidFill>
                      <a:srgbClr val="F5F6F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i="0">
                          <a:solidFill>
                            <a:srgbClr val="1F1F1F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i="0">
                          <a:solidFill>
                            <a:srgbClr val="1F1F1F"/>
                          </a:solidFill>
                          <a:latin typeface="Arial"/>
                        </a:rPr>
                        <a:t>0,391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i="0">
                          <a:solidFill>
                            <a:srgbClr val="1F1F1F"/>
                          </a:solidFill>
                          <a:latin typeface="Arial"/>
                        </a:rPr>
                        <a:t>2.000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i="0">
                          <a:solidFill>
                            <a:srgbClr val="1F1F1F"/>
                          </a:solidFill>
                          <a:latin typeface="Arial"/>
                        </a:rPr>
                        <a:t>0,900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i="0">
                          <a:solidFill>
                            <a:srgbClr val="1F1F1F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i="0">
                          <a:solidFill>
                            <a:srgbClr val="1F1F1F"/>
                          </a:solidFill>
                          <a:latin typeface="Arial"/>
                        </a:rPr>
                        <a:t>0,396</a:t>
                      </a:r>
                    </a:p>
                  </a:txBody>
                  <a:tcPr marL="73152" marR="73152" marT="27432" marB="27432" anchor="ctr"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i="0">
                          <a:solidFill>
                            <a:srgbClr val="1F1F1F"/>
                          </a:solidFill>
                          <a:latin typeface="Arial"/>
                        </a:rPr>
                        <a:t>2.000</a:t>
                      </a:r>
                    </a:p>
                  </a:txBody>
                  <a:tcPr marL="73152" marR="73152" marT="27432" marB="27432" anchor="ctr"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i="0">
                          <a:solidFill>
                            <a:srgbClr val="1F1F1F"/>
                          </a:solidFill>
                          <a:latin typeface="Arial"/>
                        </a:rPr>
                        <a:t>0,901</a:t>
                      </a:r>
                    </a:p>
                  </a:txBody>
                  <a:tcPr marL="73152" marR="73152" marT="27432" marB="27432" anchor="ctr">
                    <a:solidFill>
                      <a:srgbClr val="F5F6F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i="0">
                          <a:solidFill>
                            <a:srgbClr val="1F1F1F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i="0">
                          <a:solidFill>
                            <a:srgbClr val="1F1F1F"/>
                          </a:solidFill>
                          <a:latin typeface="Arial"/>
                        </a:rPr>
                        <a:t>0,406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i="0">
                          <a:solidFill>
                            <a:srgbClr val="1F1F1F"/>
                          </a:solidFill>
                          <a:latin typeface="Arial"/>
                        </a:rPr>
                        <a:t>2.000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i="0">
                          <a:solidFill>
                            <a:srgbClr val="1F1F1F"/>
                          </a:solidFill>
                          <a:latin typeface="Arial"/>
                        </a:rPr>
                        <a:t>0,895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3886200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A5A5A"/>
                </a:solidFill>
                <a:latin typeface="Arial"/>
              </a:rPr>
              <a:t>Escolhida: 10 neurônios</a:t>
            </a:r>
          </a:p>
        </p:txBody>
      </p:sp>
      <p:pic>
        <p:nvPicPr>
          <p:cNvPr id="9" name="Picture 8" descr="exp3_pmc_loss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1417320"/>
            <a:ext cx="4937760" cy="27432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48640" y="4709160"/>
            <a:ext cx="5897880" cy="123444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709160"/>
            <a:ext cx="5486400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D95A24"/>
                </a:solidFill>
                <a:latin typeface="Arial"/>
              </a:rPr>
              <a:t>Sobreajuste: </a:t>
            </a:r>
            <a:r>
              <a:rPr sz="1600" b="0" i="0">
                <a:solidFill>
                  <a:srgbClr val="1F1F1F"/>
                </a:solidFill>
                <a:latin typeface="Arial"/>
              </a:rPr>
              <a:t>AUC 0,90 no treino × 0,78 em projetos nunca vistos (k = 0,5).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429768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A5A5A"/>
                </a:solidFill>
                <a:latin typeface="Arial"/>
              </a:rPr>
              <a:t>Perda = entropia cruzada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B2A41"/>
                </a:solidFill>
                <a:latin typeface="Arial"/>
              </a:rPr>
              <a:t>Amostras de teste (1/2): Sprints que cumpriram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5A5A5A"/>
                </a:solidFill>
                <a:latin typeface="Arial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3628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A5A5A"/>
                </a:solidFill>
                <a:latin typeface="Arial"/>
              </a:rPr>
              <a:t>Fonte: exp4_predicoes.csv — predições fora da dobra, k = 0,5, sorteio com semente 42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08760"/>
          <a:ext cx="749808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280160"/>
                <a:gridCol w="1188720"/>
                <a:gridCol w="1005840"/>
                <a:gridCol w="914400"/>
                <a:gridCol w="1188720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Sprint</a:t>
                      </a:r>
                    </a:p>
                  </a:txBody>
                  <a:tcPr marL="73152" marR="73152" marT="27432" marB="27432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x₂ concluído</a:t>
                      </a:r>
                    </a:p>
                  </a:txBody>
                  <a:tcPr marL="73152" marR="73152" marT="27432" marB="27432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Perceptron</a:t>
                      </a:r>
                    </a:p>
                  </a:txBody>
                  <a:tcPr marL="73152" marR="73152" marT="27432" marB="27432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Adaline</a:t>
                      </a:r>
                    </a:p>
                  </a:txBody>
                  <a:tcPr marL="73152" marR="73152" marT="27432" marB="27432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PMC</a:t>
                      </a:r>
                    </a:p>
                  </a:txBody>
                  <a:tcPr marL="73152" marR="73152" marT="27432" marB="27432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Desejada</a:t>
                      </a:r>
                    </a:p>
                  </a:txBody>
                  <a:tcPr marL="73152" marR="73152" marT="27432" marB="27432" anchor="ctr">
                    <a:solidFill>
                      <a:srgbClr val="1B2A41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500" i="0">
                          <a:solidFill>
                            <a:srgbClr val="1F1F1F"/>
                          </a:solidFill>
                          <a:latin typeface="Arial"/>
                        </a:rPr>
                        <a:t>XD 18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i="0">
                          <a:solidFill>
                            <a:srgbClr val="1F1F1F"/>
                          </a:solidFill>
                          <a:latin typeface="Arial"/>
                        </a:rPr>
                        <a:t>58%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i="0">
                          <a:solidFill>
                            <a:srgbClr val="1F1F1F"/>
                          </a:solidFill>
                          <a:latin typeface="Arial"/>
                        </a:rPr>
                        <a:t>+1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i="0">
                          <a:solidFill>
                            <a:srgbClr val="1F1F1F"/>
                          </a:solidFill>
                          <a:latin typeface="Arial"/>
                        </a:rPr>
                        <a:t>+1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i="0">
                          <a:solidFill>
                            <a:srgbClr val="1F1F1F"/>
                          </a:solidFill>
                          <a:latin typeface="Arial"/>
                        </a:rPr>
                        <a:t>+1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i="0">
                          <a:solidFill>
                            <a:srgbClr val="1F1F1F"/>
                          </a:solidFill>
                          <a:latin typeface="Arial"/>
                        </a:rPr>
                        <a:t>+1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500" i="0">
                          <a:solidFill>
                            <a:srgbClr val="1F1F1F"/>
                          </a:solidFill>
                          <a:latin typeface="Arial"/>
                        </a:rPr>
                        <a:t>TIMOB 4814</a:t>
                      </a:r>
                    </a:p>
                  </a:txBody>
                  <a:tcPr marL="73152" marR="73152" marT="27432" marB="27432" anchor="ctr"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i="0">
                          <a:solidFill>
                            <a:srgbClr val="1F1F1F"/>
                          </a:solidFill>
                          <a:latin typeface="Arial"/>
                        </a:rPr>
                        <a:t>28%</a:t>
                      </a:r>
                    </a:p>
                  </a:txBody>
                  <a:tcPr marL="73152" marR="73152" marT="27432" marB="27432" anchor="ctr"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i="0">
                          <a:solidFill>
                            <a:srgbClr val="1F1F1F"/>
                          </a:solidFill>
                          <a:latin typeface="Arial"/>
                        </a:rPr>
                        <a:t>+1</a:t>
                      </a:r>
                    </a:p>
                  </a:txBody>
                  <a:tcPr marL="73152" marR="73152" marT="27432" marB="27432" anchor="ctr"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i="0">
                          <a:solidFill>
                            <a:srgbClr val="1F1F1F"/>
                          </a:solidFill>
                          <a:latin typeface="Arial"/>
                        </a:rPr>
                        <a:t>+1</a:t>
                      </a:r>
                    </a:p>
                  </a:txBody>
                  <a:tcPr marL="73152" marR="73152" marT="27432" marB="27432" anchor="ctr"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i="0">
                          <a:solidFill>
                            <a:srgbClr val="1F1F1F"/>
                          </a:solidFill>
                          <a:latin typeface="Arial"/>
                        </a:rPr>
                        <a:t>−1</a:t>
                      </a:r>
                    </a:p>
                  </a:txBody>
                  <a:tcPr marL="73152" marR="73152" marT="27432" marB="27432" anchor="ctr"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i="0">
                          <a:solidFill>
                            <a:srgbClr val="1F1F1F"/>
                          </a:solidFill>
                          <a:latin typeface="Arial"/>
                        </a:rPr>
                        <a:t>+1</a:t>
                      </a:r>
                    </a:p>
                  </a:txBody>
                  <a:tcPr marL="73152" marR="73152" marT="27432" marB="27432" anchor="ctr">
                    <a:solidFill>
                      <a:srgbClr val="F5F6F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500" i="0">
                          <a:solidFill>
                            <a:srgbClr val="1F1F1F"/>
                          </a:solidFill>
                          <a:latin typeface="Arial"/>
                        </a:rPr>
                        <a:t>TIMOB 4901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i="0">
                          <a:solidFill>
                            <a:srgbClr val="1F1F1F"/>
                          </a:solidFill>
                          <a:latin typeface="Arial"/>
                        </a:rPr>
                        <a:t>69%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i="0">
                          <a:solidFill>
                            <a:srgbClr val="1F1F1F"/>
                          </a:solidFill>
                          <a:latin typeface="Arial"/>
                        </a:rPr>
                        <a:t>+1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i="0">
                          <a:solidFill>
                            <a:srgbClr val="1F1F1F"/>
                          </a:solidFill>
                          <a:latin typeface="Arial"/>
                        </a:rPr>
                        <a:t>+1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i="0">
                          <a:solidFill>
                            <a:srgbClr val="1F1F1F"/>
                          </a:solidFill>
                          <a:latin typeface="Arial"/>
                        </a:rPr>
                        <a:t>+1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i="0">
                          <a:solidFill>
                            <a:srgbClr val="1F1F1F"/>
                          </a:solidFill>
                          <a:latin typeface="Arial"/>
                        </a:rPr>
                        <a:t>+1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500" i="0">
                          <a:solidFill>
                            <a:srgbClr val="1F1F1F"/>
                          </a:solidFill>
                          <a:latin typeface="Arial"/>
                        </a:rPr>
                        <a:t>INDY 2691</a:t>
                      </a:r>
                    </a:p>
                  </a:txBody>
                  <a:tcPr marL="73152" marR="73152" marT="27432" marB="27432" anchor="ctr"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i="0">
                          <a:solidFill>
                            <a:srgbClr val="1F1F1F"/>
                          </a:solidFill>
                          <a:latin typeface="Arial"/>
                        </a:rPr>
                        <a:t>24%</a:t>
                      </a:r>
                    </a:p>
                  </a:txBody>
                  <a:tcPr marL="73152" marR="73152" marT="27432" marB="27432" anchor="ctr"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i="0">
                          <a:solidFill>
                            <a:srgbClr val="1F1F1F"/>
                          </a:solidFill>
                          <a:latin typeface="Arial"/>
                        </a:rPr>
                        <a:t>+1</a:t>
                      </a:r>
                    </a:p>
                  </a:txBody>
                  <a:tcPr marL="73152" marR="73152" marT="27432" marB="27432" anchor="ctr"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i="0">
                          <a:solidFill>
                            <a:srgbClr val="1F1F1F"/>
                          </a:solidFill>
                          <a:latin typeface="Arial"/>
                        </a:rPr>
                        <a:t>−1</a:t>
                      </a:r>
                    </a:p>
                  </a:txBody>
                  <a:tcPr marL="73152" marR="73152" marT="27432" marB="27432" anchor="ctr"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i="0">
                          <a:solidFill>
                            <a:srgbClr val="1F1F1F"/>
                          </a:solidFill>
                          <a:latin typeface="Arial"/>
                        </a:rPr>
                        <a:t>−1</a:t>
                      </a:r>
                    </a:p>
                  </a:txBody>
                  <a:tcPr marL="73152" marR="73152" marT="27432" marB="27432" anchor="ctr"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i="0">
                          <a:solidFill>
                            <a:srgbClr val="1F1F1F"/>
                          </a:solidFill>
                          <a:latin typeface="Arial"/>
                        </a:rPr>
                        <a:t>+1</a:t>
                      </a:r>
                    </a:p>
                  </a:txBody>
                  <a:tcPr marL="73152" marR="73152" marT="27432" marB="27432" anchor="ctr">
                    <a:solidFill>
                      <a:srgbClr val="F5F6F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500" i="0">
                          <a:solidFill>
                            <a:srgbClr val="1F1F1F"/>
                          </a:solidFill>
                          <a:latin typeface="Arial"/>
                        </a:rPr>
                        <a:t>MULE 4465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i="0">
                          <a:solidFill>
                            <a:srgbClr val="1F1F1F"/>
                          </a:solidFill>
                          <a:latin typeface="Arial"/>
                        </a:rPr>
                        <a:t>37%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i="0">
                          <a:solidFill>
                            <a:srgbClr val="1F1F1F"/>
                          </a:solidFill>
                          <a:latin typeface="Arial"/>
                        </a:rPr>
                        <a:t>−1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i="0">
                          <a:solidFill>
                            <a:srgbClr val="1F1F1F"/>
                          </a:solidFill>
                          <a:latin typeface="Arial"/>
                        </a:rPr>
                        <a:t>+1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i="0">
                          <a:solidFill>
                            <a:srgbClr val="1F1F1F"/>
                          </a:solidFill>
                          <a:latin typeface="Arial"/>
                        </a:rPr>
                        <a:t>+1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i="0">
                          <a:solidFill>
                            <a:srgbClr val="1F1F1F"/>
                          </a:solidFill>
                          <a:latin typeface="Arial"/>
                        </a:rPr>
                        <a:t>+1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458200" y="1508760"/>
            <a:ext cx="3182112" cy="301752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0" y="1691640"/>
            <a:ext cx="27432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1" i="0">
                <a:solidFill>
                  <a:srgbClr val="1B2A41"/>
                </a:solidFill>
                <a:latin typeface="Arial"/>
              </a:rPr>
              <a:t>Amostra ilustrativa 5/5</a:t>
            </a:r>
          </a:p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1F1F1F"/>
                </a:solidFill>
                <a:latin typeface="Arial"/>
              </a:rPr>
              <a:t>Na base real, só 10,9% das Sprints cumprem.</a:t>
            </a:r>
          </a:p>
          <a:p>
            <a:pPr algn="l">
              <a:spcAft>
                <a:spcPts val="1200"/>
              </a:spcAft>
            </a:pPr>
            <a:r>
              <a:rPr sz="1400" b="1" i="0">
                <a:solidFill>
                  <a:srgbClr val="D95A24"/>
                </a:solidFill>
                <a:latin typeface="Arial"/>
              </a:rPr>
              <a:t>Laranja = saída errada.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709160"/>
            <a:ext cx="749807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A5A5A"/>
                </a:solidFill>
                <a:latin typeface="Arial"/>
              </a:rPr>
              <a:t>Todas em k = 0,5 (x₁ = 0,5). Saída bipolar: +1 cumpriu, −1 não cumpriu. Demais entradas em exp4_predicoes.csv.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B2A41"/>
                </a:solidFill>
                <a:latin typeface="Arial"/>
              </a:rPr>
              <a:t>Amostras de teste (2/2): Sprints que não cumpriram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5A5A5A"/>
                </a:solidFill>
                <a:latin typeface="Arial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3628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A5A5A"/>
                </a:solidFill>
                <a:latin typeface="Arial"/>
              </a:rPr>
              <a:t>Fonte: exp4_predicoes.csv — predições fora da dobra, k = 0,5, sorteio com semente 42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08760"/>
          <a:ext cx="749808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280160"/>
                <a:gridCol w="1188720"/>
                <a:gridCol w="1005840"/>
                <a:gridCol w="914400"/>
                <a:gridCol w="1188720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Sprint</a:t>
                      </a:r>
                    </a:p>
                  </a:txBody>
                  <a:tcPr marL="73152" marR="73152" marT="27432" marB="27432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x₂ concluído</a:t>
                      </a:r>
                    </a:p>
                  </a:txBody>
                  <a:tcPr marL="73152" marR="73152" marT="27432" marB="27432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Perceptron</a:t>
                      </a:r>
                    </a:p>
                  </a:txBody>
                  <a:tcPr marL="73152" marR="73152" marT="27432" marB="27432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Adaline</a:t>
                      </a:r>
                    </a:p>
                  </a:txBody>
                  <a:tcPr marL="73152" marR="73152" marT="27432" marB="27432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PMC</a:t>
                      </a:r>
                    </a:p>
                  </a:txBody>
                  <a:tcPr marL="73152" marR="73152" marT="27432" marB="27432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Desejada</a:t>
                      </a:r>
                    </a:p>
                  </a:txBody>
                  <a:tcPr marL="73152" marR="73152" marT="27432" marB="27432" anchor="ctr">
                    <a:solidFill>
                      <a:srgbClr val="1B2A41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500" i="0">
                          <a:solidFill>
                            <a:srgbClr val="1F1F1F"/>
                          </a:solidFill>
                          <a:latin typeface="Arial"/>
                        </a:rPr>
                        <a:t>MESOS 411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i="0">
                          <a:solidFill>
                            <a:srgbClr val="1F1F1F"/>
                          </a:solidFill>
                          <a:latin typeface="Arial"/>
                        </a:rPr>
                        <a:t>1%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i="0">
                          <a:solidFill>
                            <a:srgbClr val="1F1F1F"/>
                          </a:solidFill>
                          <a:latin typeface="Arial"/>
                        </a:rPr>
                        <a:t>−1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i="0">
                          <a:solidFill>
                            <a:srgbClr val="1F1F1F"/>
                          </a:solidFill>
                          <a:latin typeface="Arial"/>
                        </a:rPr>
                        <a:t>−1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i="0">
                          <a:solidFill>
                            <a:srgbClr val="1F1F1F"/>
                          </a:solidFill>
                          <a:latin typeface="Arial"/>
                        </a:rPr>
                        <a:t>−1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i="0">
                          <a:solidFill>
                            <a:srgbClr val="1F1F1F"/>
                          </a:solidFill>
                          <a:latin typeface="Arial"/>
                        </a:rPr>
                        <a:t>−1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500" i="0">
                          <a:solidFill>
                            <a:srgbClr val="1F1F1F"/>
                          </a:solidFill>
                          <a:latin typeface="Arial"/>
                        </a:rPr>
                        <a:t>BE 2668</a:t>
                      </a:r>
                    </a:p>
                  </a:txBody>
                  <a:tcPr marL="73152" marR="73152" marT="27432" marB="27432" anchor="ctr"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i="0">
                          <a:solidFill>
                            <a:srgbClr val="1F1F1F"/>
                          </a:solidFill>
                          <a:latin typeface="Arial"/>
                        </a:rPr>
                        <a:t>10%</a:t>
                      </a:r>
                    </a:p>
                  </a:txBody>
                  <a:tcPr marL="73152" marR="73152" marT="27432" marB="27432" anchor="ctr"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i="0">
                          <a:solidFill>
                            <a:srgbClr val="1F1F1F"/>
                          </a:solidFill>
                          <a:latin typeface="Arial"/>
                        </a:rPr>
                        <a:t>−1</a:t>
                      </a:r>
                    </a:p>
                  </a:txBody>
                  <a:tcPr marL="73152" marR="73152" marT="27432" marB="27432" anchor="ctr"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i="0">
                          <a:solidFill>
                            <a:srgbClr val="1F1F1F"/>
                          </a:solidFill>
                          <a:latin typeface="Arial"/>
                        </a:rPr>
                        <a:t>−1</a:t>
                      </a:r>
                    </a:p>
                  </a:txBody>
                  <a:tcPr marL="73152" marR="73152" marT="27432" marB="27432" anchor="ctr"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i="0">
                          <a:solidFill>
                            <a:srgbClr val="1F1F1F"/>
                          </a:solidFill>
                          <a:latin typeface="Arial"/>
                        </a:rPr>
                        <a:t>−1</a:t>
                      </a:r>
                    </a:p>
                  </a:txBody>
                  <a:tcPr marL="73152" marR="73152" marT="27432" marB="27432" anchor="ctr"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i="0">
                          <a:solidFill>
                            <a:srgbClr val="1F1F1F"/>
                          </a:solidFill>
                          <a:latin typeface="Arial"/>
                        </a:rPr>
                        <a:t>−1</a:t>
                      </a:r>
                    </a:p>
                  </a:txBody>
                  <a:tcPr marL="73152" marR="73152" marT="27432" marB="27432" anchor="ctr">
                    <a:solidFill>
                      <a:srgbClr val="F5F6F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500" i="0">
                          <a:solidFill>
                            <a:srgbClr val="1F1F1F"/>
                          </a:solidFill>
                          <a:latin typeface="Arial"/>
                        </a:rPr>
                        <a:t>DM 3095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i="0">
                          <a:solidFill>
                            <a:srgbClr val="1F1F1F"/>
                          </a:solidFill>
                          <a:latin typeface="Arial"/>
                        </a:rPr>
                        <a:t>11%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i="0">
                          <a:solidFill>
                            <a:srgbClr val="1F1F1F"/>
                          </a:solidFill>
                          <a:latin typeface="Arial"/>
                        </a:rPr>
                        <a:t>+1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i="0">
                          <a:solidFill>
                            <a:srgbClr val="1F1F1F"/>
                          </a:solidFill>
                          <a:latin typeface="Arial"/>
                        </a:rPr>
                        <a:t>−1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i="0">
                          <a:solidFill>
                            <a:srgbClr val="1F1F1F"/>
                          </a:solidFill>
                          <a:latin typeface="Arial"/>
                        </a:rPr>
                        <a:t>−1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i="0">
                          <a:solidFill>
                            <a:srgbClr val="1F1F1F"/>
                          </a:solidFill>
                          <a:latin typeface="Arial"/>
                        </a:rPr>
                        <a:t>−1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500" i="0">
                          <a:solidFill>
                            <a:srgbClr val="1F1F1F"/>
                          </a:solidFill>
                          <a:latin typeface="Arial"/>
                        </a:rPr>
                        <a:t>DM 3031</a:t>
                      </a:r>
                    </a:p>
                  </a:txBody>
                  <a:tcPr marL="73152" marR="73152" marT="27432" marB="27432" anchor="ctr"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i="0">
                          <a:solidFill>
                            <a:srgbClr val="1F1F1F"/>
                          </a:solidFill>
                          <a:latin typeface="Arial"/>
                        </a:rPr>
                        <a:t>10%</a:t>
                      </a:r>
                    </a:p>
                  </a:txBody>
                  <a:tcPr marL="73152" marR="73152" marT="27432" marB="27432" anchor="ctr"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i="0">
                          <a:solidFill>
                            <a:srgbClr val="1F1F1F"/>
                          </a:solidFill>
                          <a:latin typeface="Arial"/>
                        </a:rPr>
                        <a:t>−1</a:t>
                      </a:r>
                    </a:p>
                  </a:txBody>
                  <a:tcPr marL="73152" marR="73152" marT="27432" marB="27432" anchor="ctr"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i="0">
                          <a:solidFill>
                            <a:srgbClr val="1F1F1F"/>
                          </a:solidFill>
                          <a:latin typeface="Arial"/>
                        </a:rPr>
                        <a:t>−1</a:t>
                      </a:r>
                    </a:p>
                  </a:txBody>
                  <a:tcPr marL="73152" marR="73152" marT="27432" marB="27432" anchor="ctr"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i="0">
                          <a:solidFill>
                            <a:srgbClr val="1F1F1F"/>
                          </a:solidFill>
                          <a:latin typeface="Arial"/>
                        </a:rPr>
                        <a:t>−1</a:t>
                      </a:r>
                    </a:p>
                  </a:txBody>
                  <a:tcPr marL="73152" marR="73152" marT="27432" marB="27432" anchor="ctr"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i="0">
                          <a:solidFill>
                            <a:srgbClr val="1F1F1F"/>
                          </a:solidFill>
                          <a:latin typeface="Arial"/>
                        </a:rPr>
                        <a:t>−1</a:t>
                      </a:r>
                    </a:p>
                  </a:txBody>
                  <a:tcPr marL="73152" marR="73152" marT="27432" marB="27432" anchor="ctr">
                    <a:solidFill>
                      <a:srgbClr val="F5F6F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500" i="0">
                          <a:solidFill>
                            <a:srgbClr val="1F1F1F"/>
                          </a:solidFill>
                          <a:latin typeface="Arial"/>
                        </a:rPr>
                        <a:t>MULE 4292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i="0">
                          <a:solidFill>
                            <a:srgbClr val="1F1F1F"/>
                          </a:solidFill>
                          <a:latin typeface="Arial"/>
                        </a:rPr>
                        <a:t>35%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i="0">
                          <a:solidFill>
                            <a:srgbClr val="1F1F1F"/>
                          </a:solidFill>
                          <a:latin typeface="Arial"/>
                        </a:rPr>
                        <a:t>−1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i="0">
                          <a:solidFill>
                            <a:srgbClr val="1F1F1F"/>
                          </a:solidFill>
                          <a:latin typeface="Arial"/>
                        </a:rPr>
                        <a:t>+1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i="0">
                          <a:solidFill>
                            <a:srgbClr val="1F1F1F"/>
                          </a:solidFill>
                          <a:latin typeface="Arial"/>
                        </a:rPr>
                        <a:t>+1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i="0">
                          <a:solidFill>
                            <a:srgbClr val="1F1F1F"/>
                          </a:solidFill>
                          <a:latin typeface="Arial"/>
                        </a:rPr>
                        <a:t>−1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458200" y="1508760"/>
            <a:ext cx="3182112" cy="301752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0" y="1691640"/>
            <a:ext cx="27432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1" i="0">
                <a:solidFill>
                  <a:srgbClr val="1B2A41"/>
                </a:solidFill>
                <a:latin typeface="Arial"/>
              </a:rPr>
              <a:t>Amostra ilustrativa 5/5</a:t>
            </a:r>
          </a:p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1F1F1F"/>
                </a:solidFill>
                <a:latin typeface="Arial"/>
              </a:rPr>
              <a:t>Na base real, só 10,9% das Sprints cumprem.</a:t>
            </a:r>
          </a:p>
          <a:p>
            <a:pPr algn="l">
              <a:spcAft>
                <a:spcPts val="1200"/>
              </a:spcAft>
            </a:pPr>
            <a:r>
              <a:rPr sz="1400" b="1" i="0">
                <a:solidFill>
                  <a:srgbClr val="D95A24"/>
                </a:solidFill>
                <a:latin typeface="Arial"/>
              </a:rPr>
              <a:t>Laranja = saída errada.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709160"/>
            <a:ext cx="749807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A5A5A"/>
                </a:solidFill>
                <a:latin typeface="Arial"/>
              </a:rPr>
              <a:t>Todas em k = 0,5 (x₁ = 0,5). Saída bipolar: +1 cumpriu, −1 não cumpriu. Demais entradas em exp4_predicoes.csv.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B2A41"/>
                </a:solidFill>
                <a:latin typeface="Arial"/>
              </a:rPr>
              <a:t>Comparativo: as redes contra as réguas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5A5A5A"/>
                </a:solidFill>
                <a:latin typeface="Arial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3628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A5A5A"/>
                </a:solidFill>
                <a:latin typeface="Arial"/>
              </a:rPr>
              <a:t>Fonte: exp4_avaliacao.csv — GroupKFold por projeto, 1.166 Sprints, 10,9% cumpriu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5394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B2A41"/>
                </a:solidFill>
                <a:latin typeface="Arial"/>
              </a:rPr>
              <a:t>AUC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874519"/>
          <a:ext cx="53949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188720"/>
                <a:gridCol w="1188720"/>
                <a:gridCol w="118872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Modelo</a:t>
                      </a:r>
                    </a:p>
                  </a:txBody>
                  <a:tcPr marL="73152" marR="73152" marT="27432" marB="27432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k = 0,3</a:t>
                      </a:r>
                    </a:p>
                  </a:txBody>
                  <a:tcPr marL="73152" marR="73152" marT="27432" marB="27432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k = 0,5</a:t>
                      </a:r>
                    </a:p>
                  </a:txBody>
                  <a:tcPr marL="73152" marR="73152" marT="27432" marB="27432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k = 0,7</a:t>
                      </a:r>
                    </a:p>
                  </a:txBody>
                  <a:tcPr marL="73152" marR="73152" marT="27432" marB="27432" anchor="ctr">
                    <a:solidFill>
                      <a:srgbClr val="1B2A41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500" i="0">
                          <a:solidFill>
                            <a:srgbClr val="1F1F1F"/>
                          </a:solidFill>
                          <a:latin typeface="Arial"/>
                        </a:rPr>
                        <a:t>B0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i="0">
                          <a:solidFill>
                            <a:srgbClr val="1F1F1F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i="0">
                          <a:solidFill>
                            <a:srgbClr val="1F1F1F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i="0">
                          <a:solidFill>
                            <a:srgbClr val="1F1F1F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500" i="0">
                          <a:solidFill>
                            <a:srgbClr val="1F1F1F"/>
                          </a:solidFill>
                          <a:latin typeface="Arial"/>
                        </a:rPr>
                        <a:t>B1</a:t>
                      </a:r>
                    </a:p>
                  </a:txBody>
                  <a:tcPr marL="73152" marR="73152" marT="27432" marB="27432" anchor="ctr"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i="0">
                          <a:solidFill>
                            <a:srgbClr val="1F1F1F"/>
                          </a:solidFill>
                          <a:latin typeface="Arial"/>
                        </a:rPr>
                        <a:t>0,77</a:t>
                      </a:r>
                    </a:p>
                  </a:txBody>
                  <a:tcPr marL="73152" marR="73152" marT="27432" marB="27432" anchor="ctr"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i="0">
                          <a:solidFill>
                            <a:srgbClr val="1F1F1F"/>
                          </a:solidFill>
                          <a:latin typeface="Arial"/>
                        </a:rPr>
                        <a:t>0,85</a:t>
                      </a:r>
                    </a:p>
                  </a:txBody>
                  <a:tcPr marL="73152" marR="73152" marT="27432" marB="27432" anchor="ctr"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i="0">
                          <a:solidFill>
                            <a:srgbClr val="1F1F1F"/>
                          </a:solidFill>
                          <a:latin typeface="Arial"/>
                        </a:rPr>
                        <a:t>0,90</a:t>
                      </a:r>
                    </a:p>
                  </a:txBody>
                  <a:tcPr marL="73152" marR="73152" marT="27432" marB="27432" anchor="ctr">
                    <a:solidFill>
                      <a:srgbClr val="F5F6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500" i="0">
                          <a:solidFill>
                            <a:srgbClr val="1F1F1F"/>
                          </a:solidFill>
                          <a:latin typeface="Arial"/>
                        </a:rPr>
                        <a:t>Perceptron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i="0">
                          <a:solidFill>
                            <a:srgbClr val="1F1F1F"/>
                          </a:solidFill>
                          <a:latin typeface="Arial"/>
                        </a:rPr>
                        <a:t>0,73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i="0">
                          <a:solidFill>
                            <a:srgbClr val="1F1F1F"/>
                          </a:solidFill>
                          <a:latin typeface="Arial"/>
                        </a:rPr>
                        <a:t>0,71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i="0">
                          <a:solidFill>
                            <a:srgbClr val="1F1F1F"/>
                          </a:solidFill>
                          <a:latin typeface="Arial"/>
                        </a:rPr>
                        <a:t>0,60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1F1F"/>
                          </a:solidFill>
                          <a:latin typeface="Arial"/>
                        </a:rPr>
                        <a:t>Adaline</a:t>
                      </a:r>
                    </a:p>
                  </a:txBody>
                  <a:tcPr marL="73152" marR="73152" marT="27432" marB="27432" anchor="ctr"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1F1F1F"/>
                          </a:solidFill>
                          <a:latin typeface="Arial"/>
                        </a:rPr>
                        <a:t>0,79</a:t>
                      </a:r>
                    </a:p>
                  </a:txBody>
                  <a:tcPr marL="73152" marR="73152" marT="27432" marB="27432" anchor="ctr"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1F1F1F"/>
                          </a:solidFill>
                          <a:latin typeface="Arial"/>
                        </a:rPr>
                        <a:t>0,85</a:t>
                      </a:r>
                    </a:p>
                  </a:txBody>
                  <a:tcPr marL="73152" marR="73152" marT="27432" marB="27432" anchor="ctr"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1F1F1F"/>
                          </a:solidFill>
                          <a:latin typeface="Arial"/>
                        </a:rPr>
                        <a:t>0,90</a:t>
                      </a:r>
                    </a:p>
                  </a:txBody>
                  <a:tcPr marL="73152" marR="73152" marT="27432" marB="27432" anchor="ctr">
                    <a:solidFill>
                      <a:srgbClr val="F5F6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500" i="0">
                          <a:solidFill>
                            <a:srgbClr val="1F1F1F"/>
                          </a:solidFill>
                          <a:latin typeface="Arial"/>
                        </a:rPr>
                        <a:t>PMC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i="0">
                          <a:solidFill>
                            <a:srgbClr val="1F1F1F"/>
                          </a:solidFill>
                          <a:latin typeface="Arial"/>
                        </a:rPr>
                        <a:t>0,68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i="0">
                          <a:solidFill>
                            <a:srgbClr val="1F1F1F"/>
                          </a:solidFill>
                          <a:latin typeface="Arial"/>
                        </a:rPr>
                        <a:t>0,78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i="0">
                          <a:solidFill>
                            <a:srgbClr val="1F1F1F"/>
                          </a:solidFill>
                          <a:latin typeface="Arial"/>
                        </a:rPr>
                        <a:t>0,86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45352" y="1417320"/>
            <a:ext cx="5394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B2A41"/>
                </a:solidFill>
                <a:latin typeface="Arial"/>
              </a:rPr>
              <a:t>Acurácia balanceada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45352" y="1874519"/>
          <a:ext cx="53949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188720"/>
                <a:gridCol w="1188720"/>
                <a:gridCol w="118872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Modelo</a:t>
                      </a:r>
                    </a:p>
                  </a:txBody>
                  <a:tcPr marL="73152" marR="73152" marT="27432" marB="27432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k = 0,3</a:t>
                      </a:r>
                    </a:p>
                  </a:txBody>
                  <a:tcPr marL="73152" marR="73152" marT="27432" marB="27432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k = 0,5</a:t>
                      </a:r>
                    </a:p>
                  </a:txBody>
                  <a:tcPr marL="73152" marR="73152" marT="27432" marB="27432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k = 0,7</a:t>
                      </a:r>
                    </a:p>
                  </a:txBody>
                  <a:tcPr marL="73152" marR="73152" marT="27432" marB="27432" anchor="ctr">
                    <a:solidFill>
                      <a:srgbClr val="1B2A41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500" i="0">
                          <a:solidFill>
                            <a:srgbClr val="1F1F1F"/>
                          </a:solidFill>
                          <a:latin typeface="Arial"/>
                        </a:rPr>
                        <a:t>B0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i="0">
                          <a:solidFill>
                            <a:srgbClr val="1F1F1F"/>
                          </a:solidFill>
                          <a:latin typeface="Arial"/>
                        </a:rPr>
                        <a:t>0,50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i="0">
                          <a:solidFill>
                            <a:srgbClr val="1F1F1F"/>
                          </a:solidFill>
                          <a:latin typeface="Arial"/>
                        </a:rPr>
                        <a:t>0,50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i="0">
                          <a:solidFill>
                            <a:srgbClr val="1F1F1F"/>
                          </a:solidFill>
                          <a:latin typeface="Arial"/>
                        </a:rPr>
                        <a:t>0,50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500" i="0">
                          <a:solidFill>
                            <a:srgbClr val="1F1F1F"/>
                          </a:solidFill>
                          <a:latin typeface="Arial"/>
                        </a:rPr>
                        <a:t>B1</a:t>
                      </a:r>
                    </a:p>
                  </a:txBody>
                  <a:tcPr marL="73152" marR="73152" marT="27432" marB="27432" anchor="ctr"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i="0">
                          <a:solidFill>
                            <a:srgbClr val="1F1F1F"/>
                          </a:solidFill>
                          <a:latin typeface="Arial"/>
                        </a:rPr>
                        <a:t>0,70</a:t>
                      </a:r>
                    </a:p>
                  </a:txBody>
                  <a:tcPr marL="73152" marR="73152" marT="27432" marB="27432" anchor="ctr"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i="0">
                          <a:solidFill>
                            <a:srgbClr val="1F1F1F"/>
                          </a:solidFill>
                          <a:latin typeface="Arial"/>
                        </a:rPr>
                        <a:t>0,68</a:t>
                      </a:r>
                    </a:p>
                  </a:txBody>
                  <a:tcPr marL="73152" marR="73152" marT="27432" marB="27432" anchor="ctr"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i="0">
                          <a:solidFill>
                            <a:srgbClr val="1F1F1F"/>
                          </a:solidFill>
                          <a:latin typeface="Arial"/>
                        </a:rPr>
                        <a:t>0,68</a:t>
                      </a:r>
                    </a:p>
                  </a:txBody>
                  <a:tcPr marL="73152" marR="73152" marT="27432" marB="27432" anchor="ctr">
                    <a:solidFill>
                      <a:srgbClr val="F5F6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500" i="0">
                          <a:solidFill>
                            <a:srgbClr val="1F1F1F"/>
                          </a:solidFill>
                          <a:latin typeface="Arial"/>
                        </a:rPr>
                        <a:t>Perceptron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i="0">
                          <a:solidFill>
                            <a:srgbClr val="1F1F1F"/>
                          </a:solidFill>
                          <a:latin typeface="Arial"/>
                        </a:rPr>
                        <a:t>0,68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i="0">
                          <a:solidFill>
                            <a:srgbClr val="1F1F1F"/>
                          </a:solidFill>
                          <a:latin typeface="Arial"/>
                        </a:rPr>
                        <a:t>0,66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i="0">
                          <a:solidFill>
                            <a:srgbClr val="1F1F1F"/>
                          </a:solidFill>
                          <a:latin typeface="Arial"/>
                        </a:rPr>
                        <a:t>0,55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1F1F"/>
                          </a:solidFill>
                          <a:latin typeface="Arial"/>
                        </a:rPr>
                        <a:t>Adaline</a:t>
                      </a:r>
                    </a:p>
                  </a:txBody>
                  <a:tcPr marL="73152" marR="73152" marT="27432" marB="27432" anchor="ctr"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1F1F1F"/>
                          </a:solidFill>
                          <a:latin typeface="Arial"/>
                        </a:rPr>
                        <a:t>0,73</a:t>
                      </a:r>
                    </a:p>
                  </a:txBody>
                  <a:tcPr marL="73152" marR="73152" marT="27432" marB="27432" anchor="ctr"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1F1F1F"/>
                          </a:solidFill>
                          <a:latin typeface="Arial"/>
                        </a:rPr>
                        <a:t>0,78</a:t>
                      </a:r>
                    </a:p>
                  </a:txBody>
                  <a:tcPr marL="73152" marR="73152" marT="27432" marB="27432" anchor="ctr"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1F1F1F"/>
                          </a:solidFill>
                          <a:latin typeface="Arial"/>
                        </a:rPr>
                        <a:t>0,82</a:t>
                      </a:r>
                    </a:p>
                  </a:txBody>
                  <a:tcPr marL="73152" marR="73152" marT="27432" marB="27432" anchor="ctr">
                    <a:solidFill>
                      <a:srgbClr val="F5F6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500" i="0">
                          <a:solidFill>
                            <a:srgbClr val="1F1F1F"/>
                          </a:solidFill>
                          <a:latin typeface="Arial"/>
                        </a:rPr>
                        <a:t>PMC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i="0">
                          <a:solidFill>
                            <a:srgbClr val="1F1F1F"/>
                          </a:solidFill>
                          <a:latin typeface="Arial"/>
                        </a:rPr>
                        <a:t>0,63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i="0">
                          <a:solidFill>
                            <a:srgbClr val="1F1F1F"/>
                          </a:solidFill>
                          <a:latin typeface="Arial"/>
                        </a:rPr>
                        <a:t>0,72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i="0">
                          <a:solidFill>
                            <a:srgbClr val="1F1F1F"/>
                          </a:solidFill>
                          <a:latin typeface="Arial"/>
                        </a:rPr>
                        <a:t>0,76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48920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F1F1F"/>
                </a:solidFill>
                <a:latin typeface="Arial"/>
              </a:rPr>
              <a:t>Adaline empata com B1 em AUC e o supera em acurácia balanceada.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B2A41"/>
                </a:solidFill>
                <a:latin typeface="Arial"/>
              </a:rPr>
              <a:t>Métrica × k: quanto mais tarde, melhor a previsão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5A5A5A"/>
                </a:solidFill>
                <a:latin typeface="Arial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3628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A5A5A"/>
                </a:solidFill>
                <a:latin typeface="Arial"/>
              </a:rPr>
              <a:t>Fonte: exp4_metrica_vs_k_principal.png — tracejado = réguas; contínuo = redes</a:t>
            </a:r>
          </a:p>
        </p:txBody>
      </p:sp>
      <p:pic>
        <p:nvPicPr>
          <p:cNvPr id="5" name="Picture 4" descr="exp4_metrica_vs_k_princip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11094415" cy="376269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25780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F1F1F"/>
                </a:solidFill>
                <a:latin typeface="Arial"/>
              </a:rPr>
              <a:t>B1, Adaline e PMC melhoram com k. Adaline ≈ B1 em AUC e F1.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B2A41"/>
                </a:solidFill>
                <a:latin typeface="Arial"/>
              </a:rPr>
              <a:t>Matrizes de confusão (k = 0,5): a troca entre os erros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5A5A5A"/>
                </a:solidFill>
                <a:latin typeface="Arial"/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3628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A5A5A"/>
                </a:solidFill>
                <a:latin typeface="Arial"/>
              </a:rPr>
              <a:t>Fonte: exp4_avaliacao.csv; positivo = "cumpriu"</a:t>
            </a:r>
          </a:p>
        </p:txBody>
      </p:sp>
      <p:pic>
        <p:nvPicPr>
          <p:cNvPr id="5" name="Picture 4" descr="exp4_matrizes_confusao_k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7680960" cy="37303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03920" y="1463040"/>
            <a:ext cx="31089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 i="0">
                <a:solidFill>
                  <a:srgbClr val="148F63"/>
                </a:solidFill>
                <a:latin typeface="Arial"/>
              </a:rPr>
              <a:t>96 × 51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F1F1F"/>
                </a:solidFill>
                <a:latin typeface="Arial"/>
              </a:rPr>
              <a:t>Sprints que cumprem, reconhecidas (Adaline × B1)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3017520"/>
            <a:ext cx="31089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 i="0">
                <a:solidFill>
                  <a:srgbClr val="D95A24"/>
                </a:solidFill>
                <a:latin typeface="Arial"/>
              </a:rPr>
              <a:t>196 × 43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F1F1F"/>
                </a:solidFill>
                <a:latin typeface="Arial"/>
              </a:rPr>
              <a:t>Sprints em risco sem alerta (Adaline × B1)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03920" y="4572000"/>
            <a:ext cx="3136392" cy="132588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0" y="4572000"/>
            <a:ext cx="2788920" cy="1325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D95A24"/>
                </a:solidFill>
                <a:latin typeface="Arial"/>
              </a:rPr>
              <a:t>Mais grave: </a:t>
            </a:r>
            <a:r>
              <a:rPr sz="1400" b="0" i="0">
                <a:solidFill>
                  <a:srgbClr val="1F1F1F"/>
                </a:solidFill>
                <a:latin typeface="Arial"/>
              </a:rPr>
              <a:t>Sprint em risco sem alerta. O limiar define a troca.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B2A41"/>
                </a:solidFill>
                <a:latin typeface="Arial"/>
              </a:rPr>
              <a:t>Robustez: itens no lugar de pontos e sem o projeto DM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5A5A5A"/>
                </a:solidFill>
                <a:latin typeface="Arial"/>
              </a:rP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3628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A5A5A"/>
                </a:solidFill>
                <a:latin typeface="Arial"/>
              </a:rPr>
              <a:t>Fonte: exp4_avaliacao.csv — k = 0,5; curvas em exp4_metrica_vs_k_robustez.png e _sem_DM.png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08760"/>
          <a:ext cx="1109441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1463040"/>
                <a:gridCol w="1554480"/>
                <a:gridCol w="1645920"/>
                <a:gridCol w="1463040"/>
                <a:gridCol w="1858975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Cenário</a:t>
                      </a:r>
                    </a:p>
                  </a:txBody>
                  <a:tcPr marL="73152" marR="73152" marT="27432" marB="27432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Sprints</a:t>
                      </a:r>
                    </a:p>
                  </a:txBody>
                  <a:tcPr marL="73152" marR="73152" marT="27432" marB="27432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% cumpriu</a:t>
                      </a:r>
                    </a:p>
                  </a:txBody>
                  <a:tcPr marL="73152" marR="73152" marT="27432" marB="27432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AUC Adaline</a:t>
                      </a:r>
                    </a:p>
                  </a:txBody>
                  <a:tcPr marL="73152" marR="73152" marT="27432" marB="27432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AUC B1</a:t>
                      </a:r>
                    </a:p>
                  </a:txBody>
                  <a:tcPr marL="73152" marR="73152" marT="27432" marB="27432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AUC PMC</a:t>
                      </a:r>
                    </a:p>
                  </a:txBody>
                  <a:tcPr marL="73152" marR="73152" marT="27432" marB="27432" anchor="ctr">
                    <a:solidFill>
                      <a:srgbClr val="1B2A41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500" i="0">
                          <a:solidFill>
                            <a:srgbClr val="1F1F1F"/>
                          </a:solidFill>
                          <a:latin typeface="Arial"/>
                        </a:rPr>
                        <a:t>Principal (SP)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i="0">
                          <a:solidFill>
                            <a:srgbClr val="1F1F1F"/>
                          </a:solidFill>
                          <a:latin typeface="Arial"/>
                        </a:rPr>
                        <a:t>1.166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i="0">
                          <a:solidFill>
                            <a:srgbClr val="1F1F1F"/>
                          </a:solidFill>
                          <a:latin typeface="Arial"/>
                        </a:rPr>
                        <a:t>10,9%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i="0">
                          <a:solidFill>
                            <a:srgbClr val="1F1F1F"/>
                          </a:solidFill>
                          <a:latin typeface="Arial"/>
                        </a:rPr>
                        <a:t>0,85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i="0">
                          <a:solidFill>
                            <a:srgbClr val="1F1F1F"/>
                          </a:solidFill>
                          <a:latin typeface="Arial"/>
                        </a:rPr>
                        <a:t>0,85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i="0">
                          <a:solidFill>
                            <a:srgbClr val="1F1F1F"/>
                          </a:solidFill>
                          <a:latin typeface="Arial"/>
                        </a:rPr>
                        <a:t>0,78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500" i="0">
                          <a:solidFill>
                            <a:srgbClr val="1F1F1F"/>
                          </a:solidFill>
                          <a:latin typeface="Arial"/>
                        </a:rPr>
                        <a:t>Contagem de itens</a:t>
                      </a:r>
                    </a:p>
                  </a:txBody>
                  <a:tcPr marL="73152" marR="73152" marT="27432" marB="27432" anchor="ctr"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i="0">
                          <a:solidFill>
                            <a:srgbClr val="1F1F1F"/>
                          </a:solidFill>
                          <a:latin typeface="Arial"/>
                        </a:rPr>
                        <a:t>2.027</a:t>
                      </a:r>
                    </a:p>
                  </a:txBody>
                  <a:tcPr marL="73152" marR="73152" marT="27432" marB="27432" anchor="ctr"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i="0">
                          <a:solidFill>
                            <a:srgbClr val="1F1F1F"/>
                          </a:solidFill>
                          <a:latin typeface="Arial"/>
                        </a:rPr>
                        <a:t>13,0%</a:t>
                      </a:r>
                    </a:p>
                  </a:txBody>
                  <a:tcPr marL="73152" marR="73152" marT="27432" marB="27432" anchor="ctr"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i="0">
                          <a:solidFill>
                            <a:srgbClr val="1F1F1F"/>
                          </a:solidFill>
                          <a:latin typeface="Arial"/>
                        </a:rPr>
                        <a:t>0,88</a:t>
                      </a:r>
                    </a:p>
                  </a:txBody>
                  <a:tcPr marL="73152" marR="73152" marT="27432" marB="27432" anchor="ctr"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i="0">
                          <a:solidFill>
                            <a:srgbClr val="1F1F1F"/>
                          </a:solidFill>
                          <a:latin typeface="Arial"/>
                        </a:rPr>
                        <a:t>0,87</a:t>
                      </a:r>
                    </a:p>
                  </a:txBody>
                  <a:tcPr marL="73152" marR="73152" marT="27432" marB="27432" anchor="ctr"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i="0">
                          <a:solidFill>
                            <a:srgbClr val="1F1F1F"/>
                          </a:solidFill>
                          <a:latin typeface="Arial"/>
                        </a:rPr>
                        <a:t>0,86</a:t>
                      </a:r>
                    </a:p>
                  </a:txBody>
                  <a:tcPr marL="73152" marR="73152" marT="27432" marB="27432" anchor="ctr">
                    <a:solidFill>
                      <a:srgbClr val="F5F6F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500" i="0">
                          <a:solidFill>
                            <a:srgbClr val="1F1F1F"/>
                          </a:solidFill>
                          <a:latin typeface="Arial"/>
                        </a:rPr>
                        <a:t>SP sem o projeto DM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i="0">
                          <a:solidFill>
                            <a:srgbClr val="1F1F1F"/>
                          </a:solidFill>
                          <a:latin typeface="Arial"/>
                        </a:rPr>
                        <a:t>929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i="0">
                          <a:solidFill>
                            <a:srgbClr val="1F1F1F"/>
                          </a:solidFill>
                          <a:latin typeface="Arial"/>
                        </a:rPr>
                        <a:t>13,5%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i="0">
                          <a:solidFill>
                            <a:srgbClr val="1F1F1F"/>
                          </a:solidFill>
                          <a:latin typeface="Arial"/>
                        </a:rPr>
                        <a:t>0,83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i="0">
                          <a:solidFill>
                            <a:srgbClr val="1F1F1F"/>
                          </a:solidFill>
                          <a:latin typeface="Arial"/>
                        </a:rPr>
                        <a:t>0,84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i="0">
                          <a:solidFill>
                            <a:srgbClr val="1F1F1F"/>
                          </a:solidFill>
                          <a:latin typeface="Arial"/>
                        </a:rPr>
                        <a:t>0,77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3840480"/>
            <a:ext cx="5440680" cy="132588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023360"/>
            <a:ext cx="4983480" cy="9601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1B2A41"/>
                </a:solidFill>
                <a:latin typeface="Arial"/>
              </a:rPr>
              <a:t>Contagem de itens</a:t>
            </a:r>
          </a:p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1F1F1F"/>
                </a:solidFill>
                <a:latin typeface="Arial"/>
              </a:rPr>
              <a:t>Mesma ordem: Adaline 0,88 ≥ B1 0,87 &gt; PMC 0,86.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3840480"/>
            <a:ext cx="5440680" cy="132588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28232" y="4023360"/>
            <a:ext cx="4983480" cy="9601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1B2A41"/>
                </a:solidFill>
                <a:latin typeface="Arial"/>
              </a:rPr>
              <a:t>Sem o DM (1% de positivos)</a:t>
            </a:r>
          </a:p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1F1F1F"/>
                </a:solidFill>
                <a:latin typeface="Arial"/>
              </a:rPr>
              <a:t>Adaline 0,83 e B1 0,84 seguem empatados.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B2A41"/>
                </a:solidFill>
                <a:latin typeface="Arial"/>
              </a:rPr>
              <a:t>Limitações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5A5A5A"/>
                </a:solidFill>
                <a:latin typeface="Arial"/>
              </a:rPr>
              <a:t>17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5440680" cy="164592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59" y="1874519"/>
            <a:ext cx="548640" cy="548640"/>
          </a:xfrm>
          <a:prstGeom prst="ellipse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874519"/>
            <a:ext cx="41605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 i="0">
                <a:solidFill>
                  <a:srgbClr val="1B2A41"/>
                </a:solidFill>
                <a:latin typeface="Arial"/>
              </a:rPr>
              <a:t>Sprint Goal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F1F1F"/>
                </a:solidFill>
                <a:latin typeface="Arial"/>
              </a:rPr>
              <a:t>Ausente no TAWOS; usamos a fração de SP entregue.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0488" y="1600200"/>
            <a:ext cx="5440680" cy="164592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64807" y="1874519"/>
            <a:ext cx="548640" cy="548640"/>
          </a:xfrm>
          <a:prstGeom prst="ellipse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42048" y="1874519"/>
            <a:ext cx="41605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 i="0">
                <a:solidFill>
                  <a:srgbClr val="1B2A41"/>
                </a:solidFill>
                <a:latin typeface="Arial"/>
              </a:rPr>
              <a:t>Ajuste do PMC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F1F1F"/>
                </a:solidFill>
                <a:latin typeface="Arial"/>
              </a:rPr>
              <a:t>Revisto uma vez após a 1ª rodada.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520440"/>
            <a:ext cx="5440680" cy="164592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59" y="3794760"/>
            <a:ext cx="548640" cy="548640"/>
          </a:xfrm>
          <a:prstGeom prst="ellipse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3794760"/>
            <a:ext cx="41605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 i="0">
                <a:solidFill>
                  <a:srgbClr val="1B2A41"/>
                </a:solidFill>
                <a:latin typeface="Arial"/>
              </a:rPr>
              <a:t>Entropia cruzada × EQM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F1F1F"/>
                </a:solidFill>
                <a:latin typeface="Arial"/>
              </a:rPr>
              <a:t>O PMC do scikit-learn não usa o EQM do livro.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0488" y="3520440"/>
            <a:ext cx="5440680" cy="164592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4807" y="3794760"/>
            <a:ext cx="548640" cy="548640"/>
          </a:xfrm>
          <a:prstGeom prst="ellipse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42048" y="3794760"/>
            <a:ext cx="41605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 i="0">
                <a:solidFill>
                  <a:srgbClr val="1B2A41"/>
                </a:solidFill>
                <a:latin typeface="Arial"/>
              </a:rPr>
              <a:t>Código aberto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F1F1F"/>
                </a:solidFill>
                <a:latin typeface="Arial"/>
              </a:rPr>
              <a:t>Só 10,9% das Sprints cumprem.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Arial"/>
              </a:rPr>
              <a:t>Conclusões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035040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200"/>
              </a:spcAft>
            </a:pPr>
            <a:r>
              <a:rPr sz="2100" b="0" i="0">
                <a:solidFill>
                  <a:srgbClr val="FFFFFF"/>
                </a:solidFill>
                <a:latin typeface="Arial"/>
              </a:rPr>
              <a:t>• AUC do Adaline sobe com k: 0,79 → 0,90.</a:t>
            </a:r>
          </a:p>
          <a:p>
            <a:pPr algn="l">
              <a:spcAft>
                <a:spcPts val="2200"/>
              </a:spcAft>
            </a:pPr>
            <a:r>
              <a:rPr sz="2100" b="0" i="0">
                <a:solidFill>
                  <a:srgbClr val="FFFFFF"/>
                </a:solidFill>
                <a:latin typeface="Arial"/>
              </a:rPr>
              <a:t>• Adaline: melhor rede; corte de 31% na metade da Sprint.</a:t>
            </a:r>
          </a:p>
          <a:p>
            <a:pPr algn="l">
              <a:spcAft>
                <a:spcPts val="2200"/>
              </a:spcAft>
            </a:pPr>
            <a:r>
              <a:rPr sz="2100" b="0" i="0">
                <a:solidFill>
                  <a:srgbClr val="FFFFFF"/>
                </a:solidFill>
                <a:latin typeface="Arial"/>
              </a:rPr>
              <a:t>• Perceptron não converge; PMC sobreajusta.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49440" y="1463040"/>
            <a:ext cx="4690872" cy="2651760"/>
          </a:xfrm>
          <a:prstGeom prst="roundRect">
            <a:avLst>
              <a:gd name="adj" fmla="val 8000"/>
            </a:avLst>
          </a:prstGeom>
          <a:solidFill>
            <a:srgbClr val="263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23760" y="1691640"/>
            <a:ext cx="4206240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600"/>
              </a:spcAft>
            </a:pPr>
            <a:r>
              <a:rPr sz="1900" b="1" i="0">
                <a:solidFill>
                  <a:srgbClr val="FFFFFF"/>
                </a:solidFill>
                <a:latin typeface="Arial"/>
              </a:rPr>
              <a:t>Trabalhos futuros</a:t>
            </a:r>
          </a:p>
          <a:p>
            <a:pPr algn="l">
              <a:spcAft>
                <a:spcPts val="1600"/>
              </a:spcAft>
            </a:pPr>
            <a:r>
              <a:rPr sz="1800" b="0" i="0">
                <a:solidFill>
                  <a:srgbClr val="CADCFC"/>
                </a:solidFill>
                <a:latin typeface="Arial"/>
              </a:rPr>
              <a:t>Variáveis novas (comentários, bloqueios)</a:t>
            </a:r>
          </a:p>
          <a:p>
            <a:pPr algn="l">
              <a:spcAft>
                <a:spcPts val="1600"/>
              </a:spcAft>
            </a:pPr>
            <a:r>
              <a:rPr sz="1800" b="0" i="0">
                <a:solidFill>
                  <a:srgbClr val="CADCFC"/>
                </a:solidFill>
                <a:latin typeface="Arial"/>
              </a:rPr>
              <a:t>Perceptron com bolso; limiar no treino</a:t>
            </a:r>
          </a:p>
          <a:p>
            <a:pPr algn="l">
              <a:spcAft>
                <a:spcPts val="1600"/>
              </a:spcAft>
            </a:pPr>
            <a:r>
              <a:rPr sz="1800" b="0" i="0">
                <a:solidFill>
                  <a:srgbClr val="CADCFC"/>
                </a:solidFill>
                <a:latin typeface="Arial"/>
              </a:rPr>
              <a:t>Redes implementadas do zero (NumPy)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B2A41"/>
                </a:solidFill>
                <a:latin typeface="Arial"/>
              </a:rPr>
              <a:t>Referências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5A5A5A"/>
                </a:solidFill>
                <a:latin typeface="Arial"/>
              </a:rPr>
              <a:t>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11094415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500" b="0" i="0">
                <a:solidFill>
                  <a:srgbClr val="1F1F1F"/>
                </a:solidFill>
                <a:latin typeface="Arial"/>
              </a:rPr>
              <a:t>SILVA, I. N.; SPATTI, D. H.; FLAUZINO, R. A. Redes Neurais Artificiais para Engenharia e Ciências Aplicadas: curso prático. 2. ed. São Paulo: Artliber, 2016.</a:t>
            </a:r>
          </a:p>
          <a:p>
            <a:pPr algn="l">
              <a:spcAft>
                <a:spcPts val="1400"/>
              </a:spcAft>
            </a:pPr>
            <a:r>
              <a:rPr sz="1500" b="0" i="0">
                <a:solidFill>
                  <a:srgbClr val="1F1F1F"/>
                </a:solidFill>
                <a:latin typeface="Arial"/>
              </a:rPr>
              <a:t>SCHWABER, K.; SUTHERLAND, J. O Guia do Scrum: o guia definitivo para o Scrum. 2020. Disponível em: scrumguides.org.</a:t>
            </a:r>
          </a:p>
          <a:p>
            <a:pPr algn="l">
              <a:spcAft>
                <a:spcPts val="1400"/>
              </a:spcAft>
            </a:pPr>
            <a:r>
              <a:rPr sz="1500" b="0" i="0">
                <a:solidFill>
                  <a:srgbClr val="1F1F1F"/>
                </a:solidFill>
                <a:latin typeface="Arial"/>
              </a:rPr>
              <a:t>SUTHERLAND, J. Scrum: the art of doing twice the work in half the time. New York: Crown Business, 2014.</a:t>
            </a:r>
          </a:p>
          <a:p>
            <a:pPr algn="l">
              <a:spcAft>
                <a:spcPts val="1400"/>
              </a:spcAft>
            </a:pPr>
            <a:r>
              <a:rPr sz="1500" b="0" i="0">
                <a:solidFill>
                  <a:srgbClr val="1F1F1F"/>
                </a:solidFill>
                <a:latin typeface="Arial"/>
              </a:rPr>
              <a:t>TAWOSI, V.; AL-SUBAIHIN, A.; MOUSSA, R.; SARRO, F. A versatile dataset of agile open source software projects. In: MSR 2022. Dados: DOI 10.5522/04/21308124.</a:t>
            </a:r>
          </a:p>
          <a:p>
            <a:pPr algn="l">
              <a:spcAft>
                <a:spcPts val="1400"/>
              </a:spcAft>
            </a:pPr>
            <a:r>
              <a:rPr sz="1500" b="0" i="0">
                <a:solidFill>
                  <a:srgbClr val="1F1F1F"/>
                </a:solidFill>
                <a:latin typeface="Arial"/>
              </a:rPr>
              <a:t>PEDREGOSA, F. et al. Scikit-learn: machine learning in Python. JMLR, v. 12, p. 2825–2830, 2011.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